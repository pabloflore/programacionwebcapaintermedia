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35" r:id="rId5"/>
    <p:sldId id="336" r:id="rId6"/>
    <p:sldId id="337" r:id="rId7"/>
    <p:sldId id="348" r:id="rId8"/>
    <p:sldId id="338" r:id="rId9"/>
    <p:sldId id="339" r:id="rId10"/>
    <p:sldId id="349" r:id="rId11"/>
    <p:sldId id="350" r:id="rId12"/>
    <p:sldId id="340" r:id="rId13"/>
    <p:sldId id="341" r:id="rId14"/>
    <p:sldId id="351" r:id="rId15"/>
    <p:sldId id="352" r:id="rId16"/>
    <p:sldId id="353" r:id="rId17"/>
    <p:sldId id="354" r:id="rId18"/>
    <p:sldId id="355" r:id="rId19"/>
    <p:sldId id="356" r:id="rId20"/>
    <p:sldId id="342" r:id="rId21"/>
    <p:sldId id="359" r:id="rId22"/>
    <p:sldId id="343" r:id="rId23"/>
    <p:sldId id="344" r:id="rId24"/>
    <p:sldId id="345" r:id="rId25"/>
    <p:sldId id="357" r:id="rId26"/>
    <p:sldId id="358" r:id="rId27"/>
    <p:sldId id="346" r:id="rId28"/>
    <p:sldId id="347" r:id="rId2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5394" autoAdjust="0"/>
  </p:normalViewPr>
  <p:slideViewPr>
    <p:cSldViewPr snapToGrid="0">
      <p:cViewPr varScale="1">
        <p:scale>
          <a:sx n="78" d="100"/>
          <a:sy n="78" d="100"/>
        </p:scale>
        <p:origin x="178" y="91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F4636F07-0AC9-4F79-B905-B52056AAEFCC}" type="datetime1">
              <a:rPr lang="es-ES" smtClean="0"/>
              <a:t>19/09/2026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9E9D563E-BCB2-465B-8A3C-AC86CE64F69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80B6BFF3-16C2-4E56-BBD0-DD214C59E8A5}" type="datetime1">
              <a:rPr lang="es-ES" smtClean="0"/>
              <a:t>19/09/2026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8B990660-4B7D-4C11-96DB-B19FFA8CA9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2545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9A6C0-8EF8-6373-C670-38ED9176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A234F35-8746-8D61-695F-23DE93B88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A78CEA2-1ADB-BD50-303D-497C9CB5B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E8A504-2713-F385-C881-CCA2FCB4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49221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91274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0BA0F-5045-0807-0090-C229F4F8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18A8B4F-D6C1-FA35-B4B0-BDDF1040D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8D7CCA-B56F-24FD-9120-304748041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62DD4A-250A-C322-BE4C-0C7C5BB1D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97861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C8B33-7F39-ADF8-A739-0CC764BE6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4640E4-EE47-0CFE-A4E1-7F8EA8686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CF4855-C278-26D2-430C-354839E69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C28031-68D7-0ED2-F6C5-ED1C851DA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8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600209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689252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74796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E42BF-528D-C38D-0593-3E9F80E6F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F0165F-9BA6-CB34-5EEC-5739EFE1B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13CE0B4-720B-29B7-69B8-AF41E9D08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C54714-2FA5-5211-CE57-6FBE55ED7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29891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708F-69EB-F148-A5E0-DDD378D0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8662CD-9C69-204C-74B7-F23E76994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DE65A8-62E9-CABA-F5F6-99040116E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7145C9-75DA-BA39-5811-672D82FA6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87268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5AF61-1DE4-DE80-AE34-DFFCB2C6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99DFC7-E420-554A-479F-FA74D30C8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F761552-7B52-EAD0-8AE4-80D1568AB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690F09-0EFE-99E0-7A81-113B9132C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26615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787F-5364-1713-2AF8-BFF32DDE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9C435E-17EE-522F-8B1F-1BA5071D3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0165309-8976-4C7E-E627-E64870026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56E283-2B69-2BD9-260A-5064AE8A3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01514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9DB4E-A3BD-842A-4413-E235F978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9DCAA8-0931-5281-4B92-2F16FC771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1ACF10-39A4-D31A-6090-15F4A154D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1AFE84-943E-7346-0F47-1E091649F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0572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97618-8366-55B7-5FAB-CE6F1723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AD8BCA-E08F-6334-67BA-9E9AA762A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BC61EA-B975-0C08-04A0-B88DAAEBE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4DA9FB-F4DB-2078-BA8F-24DB006D6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554216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90959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19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12296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58588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765741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EDC4-7E1E-9E5A-68BE-10D3FFB2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2C148D-C296-EE75-D8EB-5CF05A29F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F709CF-C892-3CEA-3213-DB0707359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7EF99B-528B-761B-2319-B611E9489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108786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FC2D4-7988-58DA-8D25-A5DD18ED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2370CE-1B2E-CA2E-DB33-A1B39E337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0C80E8-7100-E2D5-6011-B836A0A7E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6E9DD7-448F-8ABB-3019-002ED17B6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006937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97884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B990660-4B7D-4C11-96DB-B19FFA8CA93C}" type="slidenum">
              <a:rPr lang="es-ES" noProof="0" smtClean="0"/>
              <a:t>25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es-ES" sz="4000" b="1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 </a:t>
            </a:r>
          </a:p>
          <a:p>
            <a:pPr lvl="3" rtl="0"/>
            <a:r>
              <a:rPr lang="es-ES"/>
              <a:t>Cuarto nivel </a:t>
            </a:r>
          </a:p>
          <a:p>
            <a:pPr lvl="4" rtl="0"/>
            <a:r>
              <a:rPr lang="es-ES"/>
              <a:t>Quinto nivel </a:t>
            </a:r>
          </a:p>
          <a:p>
            <a:pPr lvl="0"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es-ES" sz="2800"/>
            </a:lvl1pPr>
            <a:lvl2pPr marL="457200" indent="0">
              <a:buNone/>
              <a:defRPr lang="es-ES" sz="2400"/>
            </a:lvl2pPr>
            <a:lvl3pPr marL="914400" indent="0">
              <a:buNone/>
              <a:defRPr lang="es-ES" sz="2000"/>
            </a:lvl3pPr>
            <a:lvl4pPr marL="1371600" indent="0">
              <a:buNone/>
              <a:defRPr lang="es-ES" sz="1800"/>
            </a:lvl4pPr>
            <a:lvl5pPr marL="1828800" indent="0">
              <a:buNone/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la sección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75" name="Marcador de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es-ES" sz="2800"/>
            </a:lvl1pPr>
            <a:lvl2pPr marL="457200" indent="0">
              <a:lnSpc>
                <a:spcPts val="2400"/>
              </a:lnSpc>
              <a:buNone/>
              <a:defRPr lang="es-ES" sz="2000"/>
            </a:lvl2pPr>
            <a:lvl3pPr marL="914400" indent="0">
              <a:lnSpc>
                <a:spcPts val="2400"/>
              </a:lnSpc>
              <a:buNone/>
              <a:defRPr lang="es-ES" sz="2000"/>
            </a:lvl3pPr>
            <a:lvl4pPr marL="1371600" indent="0">
              <a:lnSpc>
                <a:spcPts val="2400"/>
              </a:lnSpc>
              <a:buNone/>
              <a:defRPr lang="es-ES" sz="2000"/>
            </a:lvl4pPr>
            <a:lvl5pPr marL="1828800" indent="0">
              <a:lnSpc>
                <a:spcPts val="2400"/>
              </a:lnSpc>
              <a:buNone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  <a:lvl6pPr marL="1600200">
              <a:defRPr lang="es-ES"/>
            </a:lvl6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4" rtl="0"/>
            <a:r>
              <a:rPr lang="es-ES"/>
              <a:t>Cuarto nivel</a:t>
            </a:r>
          </a:p>
          <a:p>
            <a:pPr lvl="5" rtl="0"/>
            <a:r>
              <a:rPr lang="es-ES"/>
              <a:t>Quinto nivel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es-ES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es-ES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es-ES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es-ES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4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es-ES"/>
            </a:lvl1pPr>
            <a:lvl2pPr>
              <a:spcBef>
                <a:spcPts val="0"/>
              </a:spcBef>
              <a:spcAft>
                <a:spcPts val="600"/>
              </a:spcAft>
              <a:defRPr lang="es-ES"/>
            </a:lvl2pPr>
            <a:lvl3pPr>
              <a:spcBef>
                <a:spcPts val="0"/>
              </a:spcBef>
              <a:spcAft>
                <a:spcPts val="600"/>
              </a:spcAft>
              <a:defRPr lang="es-ES"/>
            </a:lvl3pPr>
            <a:lvl4pPr>
              <a:spcBef>
                <a:spcPts val="0"/>
              </a:spcBef>
              <a:spcAft>
                <a:spcPts val="600"/>
              </a:spcAft>
              <a:defRPr lang="es-ES" sz="2000"/>
            </a:lvl4pPr>
            <a:lvl5pPr>
              <a:spcBef>
                <a:spcPts val="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es-ES" sz="28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Marcador de conteni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es-ES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es-ES"/>
            </a:lvl1pPr>
          </a:lstStyle>
          <a:p>
            <a:pPr rtl="0"/>
            <a:r>
              <a:rPr lang="es-ES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es-ES" sz="40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 </a:t>
            </a:r>
          </a:p>
          <a:p>
            <a:pPr lvl="3" rtl="0"/>
            <a:r>
              <a:rPr lang="es-ES"/>
              <a:t>Cuarto nivel </a:t>
            </a:r>
          </a:p>
          <a:p>
            <a:pPr lvl="4" rtl="0"/>
            <a:r>
              <a:rPr lang="es-ES"/>
              <a:t>Quinto nivel </a:t>
            </a:r>
          </a:p>
          <a:p>
            <a:pPr lvl="0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es-ES" sz="4000"/>
            </a:lvl1pPr>
          </a:lstStyle>
          <a:p>
            <a:pPr rtl="0"/>
            <a:r>
              <a:rPr lang="es-ES" noProof="0" dirty="0"/>
              <a:t>Haga clic para agregar un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2190613"/>
            <a:ext cx="5221224" cy="182585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Programación web capa intermedia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82B1A7D-3ADF-DB39-B2A1-5CAB82849716}"/>
              </a:ext>
            </a:extLst>
          </p:cNvPr>
          <p:cNvSpPr txBox="1"/>
          <p:nvPr/>
        </p:nvSpPr>
        <p:spPr>
          <a:xfrm>
            <a:off x="6236339" y="4016463"/>
            <a:ext cx="4460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Juan Pablo Flores Garibay #1905170</a:t>
            </a:r>
          </a:p>
          <a:p>
            <a:r>
              <a:rPr lang="es-ES" dirty="0"/>
              <a:t>Ismael Cruz Vázquez           #1860120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9" y="128278"/>
            <a:ext cx="8297380" cy="552588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MX" dirty="0"/>
              <a:t>Contrato de API Propia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3269" y="797633"/>
            <a:ext cx="8324089" cy="583341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0" indent="0" rtl="0">
              <a:buNone/>
            </a:pPr>
            <a:r>
              <a:rPr lang="es-ES" sz="1800" b="1" dirty="0"/>
              <a:t>Versión</a:t>
            </a:r>
            <a:r>
              <a:rPr lang="es-ES" sz="1800" dirty="0"/>
              <a:t> 1.0</a:t>
            </a:r>
          </a:p>
          <a:p>
            <a:pPr marL="0" indent="0" rtl="0">
              <a:buNone/>
            </a:pPr>
            <a:r>
              <a:rPr lang="es-ES" sz="1800" b="1" dirty="0"/>
              <a:t>Formato de Respuesta: </a:t>
            </a:r>
            <a:r>
              <a:rPr lang="es-ES" sz="1800" dirty="0"/>
              <a:t>aplicación/</a:t>
            </a:r>
            <a:r>
              <a:rPr lang="es-ES" sz="1800" dirty="0" err="1"/>
              <a:t>json</a:t>
            </a:r>
            <a:endParaRPr lang="es-ES" sz="1800" dirty="0"/>
          </a:p>
          <a:p>
            <a:pPr marL="0" indent="0" rtl="0">
              <a:buNone/>
            </a:pPr>
            <a:r>
              <a:rPr lang="es-ES" sz="1800" b="1" dirty="0"/>
              <a:t>Autenticación: </a:t>
            </a:r>
            <a:r>
              <a:rPr lang="es-ES" sz="1800" dirty="0"/>
              <a:t>Bearer Token / Session Cookie</a:t>
            </a:r>
          </a:p>
          <a:p>
            <a:pPr marL="0" indent="0" rtl="0">
              <a:buNone/>
            </a:pPr>
            <a:r>
              <a:rPr lang="es-ES" sz="1800" b="1" dirty="0" err="1"/>
              <a:t>Endpoint</a:t>
            </a:r>
            <a:r>
              <a:rPr lang="es-ES" sz="1800" b="1" dirty="0"/>
              <a:t> 1: </a:t>
            </a:r>
            <a:r>
              <a:rPr lang="es-ES" sz="1800" dirty="0"/>
              <a:t>Obtener Cursos Activos por Categoría</a:t>
            </a:r>
          </a:p>
          <a:p>
            <a:r>
              <a:rPr lang="es-ES" sz="1800" b="1" dirty="0"/>
              <a:t>Descripción: </a:t>
            </a:r>
            <a:r>
              <a:rPr lang="es-ES" sz="1800" dirty="0"/>
              <a:t>Devuelve el listado de cursos en estado activo filtrados por una categoría especifica.</a:t>
            </a:r>
          </a:p>
          <a:p>
            <a:r>
              <a:rPr lang="es-ES" sz="1800" b="1" dirty="0"/>
              <a:t>Ruta: </a:t>
            </a:r>
            <a:r>
              <a:rPr lang="es-ES" sz="1800" dirty="0"/>
              <a:t>/api/v1/cursos</a:t>
            </a:r>
          </a:p>
          <a:p>
            <a:r>
              <a:rPr lang="es-ES" sz="1800" b="1" dirty="0"/>
              <a:t>Método HTTP: </a:t>
            </a:r>
            <a:r>
              <a:rPr lang="es-ES" sz="1800" dirty="0"/>
              <a:t>GET</a:t>
            </a:r>
          </a:p>
          <a:p>
            <a:r>
              <a:rPr lang="es-ES" sz="1800" b="1" dirty="0"/>
              <a:t>Parámetros de Entrada (Query </a:t>
            </a:r>
            <a:r>
              <a:rPr lang="es-ES" sz="1800" b="1" dirty="0" err="1"/>
              <a:t>Params</a:t>
            </a:r>
            <a:r>
              <a:rPr lang="es-ES" sz="1800" b="1" dirty="0"/>
              <a:t>)</a:t>
            </a:r>
          </a:p>
          <a:p>
            <a:pPr marL="0" indent="0">
              <a:buNone/>
            </a:pPr>
            <a:r>
              <a:rPr lang="es-ES" sz="1800" b="1" dirty="0"/>
              <a:t>        -</a:t>
            </a:r>
            <a:r>
              <a:rPr lang="es-ES" sz="1800" b="1" dirty="0" err="1"/>
              <a:t>categoría_id</a:t>
            </a:r>
            <a:r>
              <a:rPr lang="es-ES" sz="1800" b="1" dirty="0"/>
              <a:t> (opcional, </a:t>
            </a:r>
            <a:r>
              <a:rPr lang="es-ES" sz="1800" b="1" dirty="0" err="1"/>
              <a:t>integer</a:t>
            </a:r>
            <a:r>
              <a:rPr lang="es-ES" sz="1800" b="1" dirty="0"/>
              <a:t>): </a:t>
            </a:r>
            <a:r>
              <a:rPr lang="es-ES" sz="1800" dirty="0"/>
              <a:t>ID de la categoría a filtrar</a:t>
            </a:r>
          </a:p>
          <a:p>
            <a:pPr marL="0" indent="0">
              <a:buNone/>
            </a:pPr>
            <a:r>
              <a:rPr lang="es-ES" sz="1800" dirty="0"/>
              <a:t>        -</a:t>
            </a:r>
            <a:r>
              <a:rPr lang="es-ES" sz="1800" b="1" dirty="0"/>
              <a:t>pagina (opcional, </a:t>
            </a:r>
            <a:r>
              <a:rPr lang="es-ES" sz="1800" b="1" dirty="0" err="1"/>
              <a:t>integer</a:t>
            </a:r>
            <a:r>
              <a:rPr lang="es-ES" sz="1800" b="1" dirty="0"/>
              <a:t>): </a:t>
            </a:r>
            <a:r>
              <a:rPr lang="es-ES" sz="1800" dirty="0"/>
              <a:t>Numero de pagina para paginación. </a:t>
            </a:r>
          </a:p>
          <a:p>
            <a:r>
              <a:rPr lang="es-ES" sz="1800" b="1" dirty="0"/>
              <a:t>Ejemplo de </a:t>
            </a:r>
            <a:r>
              <a:rPr lang="es-ES" sz="1800" b="1" dirty="0" err="1"/>
              <a:t>Peticion</a:t>
            </a:r>
            <a:r>
              <a:rPr lang="es-ES" sz="1800" b="1" dirty="0"/>
              <a:t>: </a:t>
            </a:r>
            <a:r>
              <a:rPr lang="es-ES" sz="1800" dirty="0"/>
              <a:t>GET /api/v1/</a:t>
            </a:r>
            <a:r>
              <a:rPr lang="es-ES" sz="1800" dirty="0" err="1"/>
              <a:t>cursos?categoría_id</a:t>
            </a:r>
            <a:r>
              <a:rPr lang="es-ES" sz="1800" dirty="0"/>
              <a:t>=3    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25" y="196957"/>
            <a:ext cx="5864352" cy="69770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JSON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9EA6EB2-86FF-9C16-243B-9D419137F626}"/>
              </a:ext>
            </a:extLst>
          </p:cNvPr>
          <p:cNvSpPr txBox="1"/>
          <p:nvPr/>
        </p:nvSpPr>
        <p:spPr>
          <a:xfrm>
            <a:off x="367558" y="1072282"/>
            <a:ext cx="54600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Respuesta Exitosa (200 OK)</a:t>
            </a:r>
          </a:p>
          <a:p>
            <a:endParaRPr lang="es-MX" dirty="0"/>
          </a:p>
          <a:p>
            <a:r>
              <a:rPr lang="es-MX" dirty="0"/>
              <a:t>{ "status": "</a:t>
            </a:r>
            <a:r>
              <a:rPr lang="es-MX" dirty="0" err="1"/>
              <a:t>success</a:t>
            </a:r>
            <a:r>
              <a:rPr lang="es-MX" dirty="0"/>
              <a:t>“,</a:t>
            </a:r>
          </a:p>
          <a:p>
            <a:r>
              <a:rPr lang="es-MX" dirty="0"/>
              <a:t> "</a:t>
            </a:r>
            <a:r>
              <a:rPr lang="es-MX" dirty="0" err="1"/>
              <a:t>code</a:t>
            </a:r>
            <a:r>
              <a:rPr lang="es-MX" dirty="0"/>
              <a:t>": 200,</a:t>
            </a:r>
          </a:p>
          <a:p>
            <a:r>
              <a:rPr lang="es-MX" dirty="0"/>
              <a:t> "data": [</a:t>
            </a:r>
          </a:p>
          <a:p>
            <a:r>
              <a:rPr lang="es-MX" dirty="0"/>
              <a:t> {</a:t>
            </a:r>
          </a:p>
          <a:p>
            <a:r>
              <a:rPr lang="es-MX" dirty="0"/>
              <a:t> "id": 101,</a:t>
            </a:r>
          </a:p>
          <a:p>
            <a:r>
              <a:rPr lang="es-MX" dirty="0"/>
              <a:t> "titulo": "Desarrollo Web con PHP Puro",</a:t>
            </a:r>
          </a:p>
          <a:p>
            <a:r>
              <a:rPr lang="es-MX" dirty="0"/>
              <a:t> "</a:t>
            </a:r>
            <a:r>
              <a:rPr lang="es-MX" dirty="0" err="1"/>
              <a:t>descripcion</a:t>
            </a:r>
            <a:r>
              <a:rPr lang="es-MX" dirty="0"/>
              <a:t>": "Aprende MVC y POO desde cero",</a:t>
            </a:r>
          </a:p>
          <a:p>
            <a:r>
              <a:rPr lang="es-MX" dirty="0"/>
              <a:t> "instructor": "Fausto Islas",</a:t>
            </a:r>
          </a:p>
          <a:p>
            <a:r>
              <a:rPr lang="es-MX" dirty="0"/>
              <a:t> "precio": 499.00,</a:t>
            </a:r>
          </a:p>
          <a:p>
            <a:r>
              <a:rPr lang="es-MX" dirty="0"/>
              <a:t> "</a:t>
            </a:r>
            <a:r>
              <a:rPr lang="es-MX" dirty="0" err="1"/>
              <a:t>calificacion_promedio</a:t>
            </a:r>
            <a:r>
              <a:rPr lang="es-MX" dirty="0"/>
              <a:t>": 4.8,</a:t>
            </a:r>
          </a:p>
          <a:p>
            <a:r>
              <a:rPr lang="es-MX" dirty="0"/>
              <a:t> "</a:t>
            </a:r>
            <a:r>
              <a:rPr lang="es-MX" dirty="0" err="1"/>
              <a:t>imagen_url</a:t>
            </a:r>
            <a:r>
              <a:rPr lang="es-MX" dirty="0"/>
              <a:t>": "/</a:t>
            </a:r>
            <a:r>
              <a:rPr lang="es-MX" dirty="0" err="1"/>
              <a:t>assets</a:t>
            </a:r>
            <a:r>
              <a:rPr lang="es-MX" dirty="0"/>
              <a:t>/</a:t>
            </a:r>
            <a:r>
              <a:rPr lang="es-MX" dirty="0" err="1"/>
              <a:t>img</a:t>
            </a:r>
            <a:r>
              <a:rPr lang="es-MX" dirty="0"/>
              <a:t>/curso-php.jpg" } ] }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DACD43-2195-F92B-CE9B-260126DBF399}"/>
              </a:ext>
            </a:extLst>
          </p:cNvPr>
          <p:cNvSpPr txBox="1"/>
          <p:nvPr/>
        </p:nvSpPr>
        <p:spPr>
          <a:xfrm>
            <a:off x="5827644" y="1072282"/>
            <a:ext cx="54600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Respuesta de Error (404 Not Found)</a:t>
            </a:r>
          </a:p>
          <a:p>
            <a:r>
              <a:rPr lang="es-MX" dirty="0"/>
              <a:t>{ </a:t>
            </a:r>
          </a:p>
          <a:p>
            <a:r>
              <a:rPr lang="es-MX" dirty="0"/>
              <a:t>"status": "error",</a:t>
            </a:r>
          </a:p>
          <a:p>
            <a:r>
              <a:rPr lang="es-MX" dirty="0"/>
              <a:t> "</a:t>
            </a:r>
            <a:r>
              <a:rPr lang="es-MX" dirty="0" err="1"/>
              <a:t>code</a:t>
            </a:r>
            <a:r>
              <a:rPr lang="es-MX" dirty="0"/>
              <a:t>": 404,</a:t>
            </a:r>
          </a:p>
          <a:p>
            <a:r>
              <a:rPr lang="es-MX" dirty="0"/>
              <a:t> "</a:t>
            </a:r>
            <a:r>
              <a:rPr lang="es-MX" dirty="0" err="1"/>
              <a:t>message</a:t>
            </a:r>
            <a:r>
              <a:rPr lang="es-MX" dirty="0"/>
              <a:t>": "No se encontraron cursos activos para la categoría especificada." }</a:t>
            </a:r>
          </a:p>
        </p:txBody>
      </p:sp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4EF6D-0D0B-E0E6-B5EA-C6019182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44F65-D4C2-FAF6-C83E-3C460E0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9" y="128278"/>
            <a:ext cx="8297380" cy="552588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MX" dirty="0"/>
              <a:t>Contrato de API Propia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F1AF2A3-EC6D-F97A-ABAD-D11B35F8A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3269" y="797633"/>
            <a:ext cx="8324089" cy="478086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0" indent="0" rtl="0">
              <a:buNone/>
            </a:pPr>
            <a:r>
              <a:rPr lang="es-ES" sz="1800" b="1" dirty="0" err="1"/>
              <a:t>Endpoint</a:t>
            </a:r>
            <a:r>
              <a:rPr lang="es-ES" sz="1800" b="1" dirty="0"/>
              <a:t> 2: </a:t>
            </a:r>
            <a:r>
              <a:rPr lang="es-ES" sz="1800" dirty="0"/>
              <a:t>Registrar un Nuevo Curso</a:t>
            </a:r>
          </a:p>
          <a:p>
            <a:pPr marL="400050" indent="-400050">
              <a:buFont typeface="+mj-lt"/>
              <a:buAutoNum type="romanUcPeriod"/>
            </a:pPr>
            <a:r>
              <a:rPr lang="es-ES" sz="1800" b="1" dirty="0"/>
              <a:t>Descripción: </a:t>
            </a:r>
            <a:r>
              <a:rPr lang="es-ES" sz="1800" dirty="0"/>
              <a:t>Permite a un instructor dar de alta un nuevo curso dentro del portal</a:t>
            </a:r>
          </a:p>
          <a:p>
            <a:pPr marL="400050" indent="-400050">
              <a:buFont typeface="+mj-lt"/>
              <a:buAutoNum type="romanUcPeriod"/>
            </a:pPr>
            <a:r>
              <a:rPr lang="es-ES" sz="1800" b="1" dirty="0"/>
              <a:t>Ruta: </a:t>
            </a:r>
            <a:r>
              <a:rPr lang="es-ES" sz="1800" dirty="0"/>
              <a:t>/api/v1/cursos</a:t>
            </a:r>
          </a:p>
          <a:p>
            <a:pPr marL="400050" indent="-400050">
              <a:buFont typeface="+mj-lt"/>
              <a:buAutoNum type="romanUcPeriod"/>
            </a:pPr>
            <a:r>
              <a:rPr lang="es-ES" sz="1800" b="1" dirty="0"/>
              <a:t>Método HTTP: </a:t>
            </a:r>
            <a:r>
              <a:rPr lang="es-ES" sz="1800" dirty="0"/>
              <a:t>POST</a:t>
            </a:r>
          </a:p>
          <a:p>
            <a:pPr marL="400050" indent="-400050">
              <a:buFont typeface="+mj-lt"/>
              <a:buAutoNum type="romanUcPeriod"/>
            </a:pPr>
            <a:r>
              <a:rPr lang="es-ES" sz="1800" b="1" dirty="0"/>
              <a:t>Cuerpo de la Petición (JSON </a:t>
            </a:r>
            <a:r>
              <a:rPr lang="es-ES" sz="1800" b="1" dirty="0" err="1"/>
              <a:t>Payload</a:t>
            </a:r>
            <a:r>
              <a:rPr lang="es-ES" sz="1800" b="1" dirty="0"/>
              <a:t>):</a:t>
            </a:r>
          </a:p>
          <a:p>
            <a:pPr marL="0" indent="0">
              <a:buNone/>
            </a:pPr>
            <a:r>
              <a:rPr lang="es-MX" sz="1200" dirty="0"/>
              <a:t>{                                                                                                                                                                                                                           "titulo": "Introducción a MySQL y Base de Datos",                                                                                                             "</a:t>
            </a:r>
            <a:r>
              <a:rPr lang="es-MX" sz="1200" dirty="0" err="1"/>
              <a:t>descripcion</a:t>
            </a:r>
            <a:r>
              <a:rPr lang="es-MX" sz="1200" dirty="0"/>
              <a:t>": "Diseño relacional de tablas y llaves foráneas",                                                                                           "</a:t>
            </a:r>
            <a:r>
              <a:rPr lang="es-MX" sz="1200" dirty="0" err="1"/>
              <a:t>categoria_id</a:t>
            </a:r>
            <a:r>
              <a:rPr lang="es-MX" sz="1200" dirty="0"/>
              <a:t>": 2,                                                                                                                                                                        "precio": 299.50,                                                                                                                                                                               "</a:t>
            </a:r>
            <a:r>
              <a:rPr lang="es-MX" sz="1200" dirty="0" err="1"/>
              <a:t>imagen_url</a:t>
            </a:r>
            <a:r>
              <a:rPr lang="es-MX" sz="1200" dirty="0"/>
              <a:t>": "/</a:t>
            </a:r>
            <a:r>
              <a:rPr lang="es-MX" sz="1200" dirty="0" err="1"/>
              <a:t>uploads</a:t>
            </a:r>
            <a:r>
              <a:rPr lang="es-MX" sz="1200" dirty="0"/>
              <a:t>/cursos/mysql.png"                                                                                                                                                                  }</a:t>
            </a:r>
            <a:endParaRPr lang="es-ES" sz="12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9362E3B-1147-3E2A-6824-14292A65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DB805F-1B90-3F4B-7791-A87D94B543E6}"/>
              </a:ext>
            </a:extLst>
          </p:cNvPr>
          <p:cNvSpPr txBox="1"/>
          <p:nvPr/>
        </p:nvSpPr>
        <p:spPr>
          <a:xfrm>
            <a:off x="5492976" y="1777817"/>
            <a:ext cx="409835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UcPeriod" startAt="5"/>
            </a:pPr>
            <a:r>
              <a:rPr lang="es-ES" sz="1600" b="1" dirty="0"/>
              <a:t>Respuesta Exitosa (201 </a:t>
            </a:r>
            <a:r>
              <a:rPr lang="es-ES" sz="1600" b="1" dirty="0" err="1"/>
              <a:t>Created</a:t>
            </a:r>
            <a:r>
              <a:rPr lang="es-ES" sz="1600" b="1" dirty="0"/>
              <a:t>)</a:t>
            </a:r>
          </a:p>
          <a:p>
            <a:endParaRPr lang="es-ES" dirty="0"/>
          </a:p>
          <a:p>
            <a:r>
              <a:rPr lang="es-MX" sz="1200" dirty="0"/>
              <a:t>{ </a:t>
            </a:r>
          </a:p>
          <a:p>
            <a:r>
              <a:rPr lang="es-MX" sz="1200" dirty="0"/>
              <a:t>"status": "</a:t>
            </a:r>
            <a:r>
              <a:rPr lang="es-MX" sz="1200" dirty="0" err="1"/>
              <a:t>success</a:t>
            </a:r>
            <a:r>
              <a:rPr lang="es-MX" sz="1200" dirty="0"/>
              <a:t>",</a:t>
            </a:r>
          </a:p>
          <a:p>
            <a:r>
              <a:rPr lang="es-MX" sz="1200" dirty="0"/>
              <a:t> "</a:t>
            </a:r>
            <a:r>
              <a:rPr lang="es-MX" sz="1200" dirty="0" err="1"/>
              <a:t>code</a:t>
            </a:r>
            <a:r>
              <a:rPr lang="es-MX" sz="1200" dirty="0"/>
              <a:t>": 201,</a:t>
            </a:r>
          </a:p>
          <a:p>
            <a:r>
              <a:rPr lang="es-MX" sz="1200" dirty="0"/>
              <a:t> "</a:t>
            </a:r>
            <a:r>
              <a:rPr lang="es-MX" sz="1200" dirty="0" err="1"/>
              <a:t>message</a:t>
            </a:r>
            <a:r>
              <a:rPr lang="es-MX" sz="1200" dirty="0"/>
              <a:t>": "Curso creado exitosamente", </a:t>
            </a:r>
          </a:p>
          <a:p>
            <a:r>
              <a:rPr lang="es-MX" sz="1200" dirty="0"/>
              <a:t>"data": { "id": 102,</a:t>
            </a:r>
          </a:p>
          <a:p>
            <a:r>
              <a:rPr lang="es-MX" sz="1200" dirty="0"/>
              <a:t> "titulo": "Introducción a MySQL y Base de Datos", </a:t>
            </a:r>
          </a:p>
          <a:p>
            <a:r>
              <a:rPr lang="es-MX" sz="1200" dirty="0"/>
              <a:t>"estatus": "activo",</a:t>
            </a:r>
          </a:p>
          <a:p>
            <a:r>
              <a:rPr lang="es-MX" sz="1200" dirty="0"/>
              <a:t> "</a:t>
            </a:r>
            <a:r>
              <a:rPr lang="es-MX" sz="1200" dirty="0" err="1"/>
              <a:t>fecha_creacion</a:t>
            </a:r>
            <a:r>
              <a:rPr lang="es-MX" sz="1200" dirty="0"/>
              <a:t>": "2026-09-18 12:00:00" </a:t>
            </a:r>
          </a:p>
          <a:p>
            <a:r>
              <a:rPr lang="es-MX" sz="1200" dirty="0"/>
              <a:t>  }</a:t>
            </a:r>
          </a:p>
          <a:p>
            <a:r>
              <a:rPr lang="es-MX" sz="1200" dirty="0"/>
              <a:t>}</a:t>
            </a:r>
            <a:endParaRPr lang="es-ES" sz="1200" dirty="0"/>
          </a:p>
          <a:p>
            <a:endParaRPr lang="es-ES" dirty="0"/>
          </a:p>
          <a:p>
            <a:pPr marL="400050" indent="-400050">
              <a:buAutoNum type="romanUcPeriod" startAt="6"/>
            </a:pPr>
            <a:r>
              <a:rPr lang="es-ES" sz="1600" b="1" dirty="0"/>
              <a:t>Respuesta de Error (400 Bad </a:t>
            </a:r>
            <a:r>
              <a:rPr lang="es-ES" sz="1600" b="1" dirty="0" err="1"/>
              <a:t>Request</a:t>
            </a:r>
            <a:r>
              <a:rPr lang="es-ES" sz="1600" b="1" dirty="0"/>
              <a:t>)</a:t>
            </a:r>
          </a:p>
          <a:p>
            <a:endParaRPr lang="es-ES" sz="1600" b="1" dirty="0"/>
          </a:p>
          <a:p>
            <a:r>
              <a:rPr lang="es-MX" sz="1200" dirty="0"/>
              <a:t>{ </a:t>
            </a:r>
          </a:p>
          <a:p>
            <a:r>
              <a:rPr lang="es-MX" sz="1200" dirty="0"/>
              <a:t>"status": "error",</a:t>
            </a:r>
          </a:p>
          <a:p>
            <a:r>
              <a:rPr lang="es-MX" sz="1200" dirty="0"/>
              <a:t> "</a:t>
            </a:r>
            <a:r>
              <a:rPr lang="es-MX" sz="1200" dirty="0" err="1"/>
              <a:t>code</a:t>
            </a:r>
            <a:r>
              <a:rPr lang="es-MX" sz="1200" dirty="0"/>
              <a:t>": 400,</a:t>
            </a:r>
          </a:p>
          <a:p>
            <a:r>
              <a:rPr lang="es-MX" sz="1200" dirty="0"/>
              <a:t> "</a:t>
            </a:r>
            <a:r>
              <a:rPr lang="es-MX" sz="1200" dirty="0" err="1"/>
              <a:t>message</a:t>
            </a:r>
            <a:r>
              <a:rPr lang="es-MX" sz="1200" dirty="0"/>
              <a:t>": "Faltan campos obligatorios: 'titulo' y '</a:t>
            </a:r>
            <a:r>
              <a:rPr lang="es-MX" sz="1200" dirty="0" err="1"/>
              <a:t>categoria_id</a:t>
            </a:r>
            <a:r>
              <a:rPr lang="es-MX" sz="1200" dirty="0"/>
              <a:t>' son requeridos.“</a:t>
            </a:r>
          </a:p>
          <a:p>
            <a:r>
              <a:rPr lang="es-MX" sz="1200" dirty="0"/>
              <a:t>}</a:t>
            </a:r>
            <a:endParaRPr lang="es-ES" sz="1200" dirty="0"/>
          </a:p>
          <a:p>
            <a:endParaRPr lang="es-ES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A7D83C-62CA-5163-3E86-F4700695D597}"/>
              </a:ext>
            </a:extLst>
          </p:cNvPr>
          <p:cNvSpPr txBox="1"/>
          <p:nvPr/>
        </p:nvSpPr>
        <p:spPr>
          <a:xfrm>
            <a:off x="9117358" y="355232"/>
            <a:ext cx="255900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VII. Respuesta de Error (401 </a:t>
            </a:r>
            <a:r>
              <a:rPr lang="es-ES" sz="1600" b="1" dirty="0" err="1"/>
              <a:t>Unauthorized</a:t>
            </a:r>
            <a:r>
              <a:rPr lang="es-ES" sz="1600" b="1" dirty="0"/>
              <a:t>)</a:t>
            </a:r>
          </a:p>
          <a:p>
            <a:endParaRPr lang="es-ES" b="1" dirty="0"/>
          </a:p>
          <a:p>
            <a:r>
              <a:rPr lang="es-MX" sz="1200" dirty="0"/>
              <a:t>{</a:t>
            </a:r>
          </a:p>
          <a:p>
            <a:r>
              <a:rPr lang="es-MX" sz="1200" dirty="0"/>
              <a:t> "status": "error", </a:t>
            </a:r>
          </a:p>
          <a:p>
            <a:r>
              <a:rPr lang="es-MX" sz="1200" dirty="0"/>
              <a:t>"</a:t>
            </a:r>
            <a:r>
              <a:rPr lang="es-MX" sz="1200" dirty="0" err="1"/>
              <a:t>code</a:t>
            </a:r>
            <a:r>
              <a:rPr lang="es-MX" sz="1200" dirty="0"/>
              <a:t>": 401,</a:t>
            </a:r>
          </a:p>
          <a:p>
            <a:r>
              <a:rPr lang="es-MX" sz="1200" dirty="0"/>
              <a:t> "</a:t>
            </a:r>
            <a:r>
              <a:rPr lang="es-MX" sz="1200" dirty="0" err="1"/>
              <a:t>message</a:t>
            </a:r>
            <a:r>
              <a:rPr lang="es-MX" sz="1200" dirty="0"/>
              <a:t>": "No tiene permisos para realizar esta acción. Inicie sesión como instructor." </a:t>
            </a:r>
          </a:p>
          <a:p>
            <a:r>
              <a:rPr lang="es-MX" sz="1200" dirty="0"/>
              <a:t>}</a:t>
            </a:r>
            <a:endParaRPr lang="es-MX" sz="1200" b="1" dirty="0"/>
          </a:p>
        </p:txBody>
      </p:sp>
    </p:spTree>
    <p:extLst>
      <p:ext uri="{BB962C8B-B14F-4D97-AF65-F5344CB8AC3E}">
        <p14:creationId xmlns:p14="http://schemas.microsoft.com/office/powerpoint/2010/main" val="372276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2596896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MX" dirty="0"/>
              <a:t>Propuesta de Integración de API de Terceros</a:t>
            </a:r>
            <a:endParaRPr lang="es-ES" dirty="0"/>
          </a:p>
        </p:txBody>
      </p:sp>
      <p:pic>
        <p:nvPicPr>
          <p:cNvPr id="12" name="Marcador de posición de imagen 11" descr="Una persona con una camisa amarilla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3285966"/>
            <a:ext cx="5864225" cy="236283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Api que escogimos: </a:t>
            </a:r>
            <a:r>
              <a:rPr lang="es-ES" dirty="0" err="1"/>
              <a:t>SendGrid</a:t>
            </a:r>
            <a:r>
              <a:rPr lang="es-ES" dirty="0"/>
              <a:t> Email API (v3) de </a:t>
            </a:r>
            <a:r>
              <a:rPr lang="es-ES" dirty="0" err="1"/>
              <a:t>Twilio</a:t>
            </a:r>
            <a:endParaRPr lang="es-ES" dirty="0"/>
          </a:p>
          <a:p>
            <a:pPr rtl="0"/>
            <a:endParaRPr lang="es-ES" dirty="0"/>
          </a:p>
          <a:p>
            <a:r>
              <a:rPr lang="es-MX" dirty="0"/>
              <a:t>https://docs.sendgrid.com/api-reference/mail-send/mail-send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En que se necesitaría esta api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908710"/>
          </a:xfrm>
        </p:spPr>
        <p:txBody>
          <a:bodyPr rtlCol="0">
            <a:normAutofit fontScale="92500"/>
          </a:bodyPr>
          <a:lstStyle>
            <a:defPPr>
              <a:defRPr lang="es-ES"/>
            </a:defPPr>
          </a:lstStyle>
          <a:p>
            <a:pPr marL="0" indent="0" rtl="0">
              <a:buNone/>
            </a:pPr>
            <a:r>
              <a:rPr lang="es-ES" sz="2800" dirty="0"/>
              <a:t>Es importante asegurarles a los usuarios de nosotros una seguridad y el poder comunicarnos con ellos como, por ejemplo:</a:t>
            </a:r>
          </a:p>
          <a:p>
            <a:pPr rtl="0"/>
            <a:r>
              <a:rPr lang="es-ES" sz="2800" dirty="0"/>
              <a:t>Para poder confirmar su cuenta mediante un email a su correo</a:t>
            </a:r>
          </a:p>
          <a:p>
            <a:pPr rtl="0"/>
            <a:r>
              <a:rPr lang="es-ES" sz="2800" dirty="0"/>
              <a:t>Envió de alertas de que se esta intentando ingresar para ser bloqueado y desbloquearse por email</a:t>
            </a:r>
          </a:p>
          <a:p>
            <a:pPr rtl="0"/>
            <a:r>
              <a:rPr lang="es-ES" sz="2800" dirty="0"/>
              <a:t>Comprobante de pago e inscripción a un nuevo curso</a:t>
            </a:r>
          </a:p>
          <a:p>
            <a:pPr rtl="0"/>
            <a:r>
              <a:rPr lang="es-ES" sz="2800" dirty="0"/>
              <a:t>Envió del diploma directamente a su email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9FE22-B1AF-40B4-00EA-2D69A69C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212A4-FF6E-EA97-2DAA-893CCD1C8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61729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Datos a consumir y enviar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C008D0-B7E8-FF55-1C9D-4BA5106870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81" y="882171"/>
            <a:ext cx="8324089" cy="572957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dirty="0"/>
              <a:t>METODO HTTP:POST</a:t>
            </a:r>
          </a:p>
          <a:p>
            <a:pPr rtl="0"/>
            <a:r>
              <a:rPr lang="es-ES" dirty="0"/>
              <a:t>ENDPOINT de </a:t>
            </a:r>
            <a:r>
              <a:rPr lang="es-ES" dirty="0" err="1"/>
              <a:t>SendGrid</a:t>
            </a:r>
            <a:endParaRPr lang="es-ES" dirty="0"/>
          </a:p>
          <a:p>
            <a:pPr marL="0" indent="0">
              <a:buNone/>
            </a:pPr>
            <a:r>
              <a:rPr lang="es-MX" dirty="0"/>
              <a:t>[https://api.sendgrid.com/v3/mail/send](https://api.sendgrid.com/v3/mail/send)</a:t>
            </a:r>
            <a:endParaRPr lang="es-ES" dirty="0"/>
          </a:p>
          <a:p>
            <a:pPr marL="0" indent="0" rtl="0">
              <a:buNone/>
            </a:pPr>
            <a:r>
              <a:rPr lang="es-ES" dirty="0"/>
              <a:t>Datos que se enviaran (</a:t>
            </a:r>
            <a:r>
              <a:rPr lang="es-ES" dirty="0" err="1"/>
              <a:t>Payload</a:t>
            </a:r>
            <a:r>
              <a:rPr lang="es-ES" dirty="0"/>
              <a:t> JSON):</a:t>
            </a:r>
          </a:p>
          <a:p>
            <a:pPr rtl="0"/>
            <a:r>
              <a:rPr lang="es-ES" dirty="0" err="1"/>
              <a:t>Direccion</a:t>
            </a:r>
            <a:r>
              <a:rPr lang="es-ES" dirty="0"/>
              <a:t> de correo al  que se </a:t>
            </a:r>
            <a:r>
              <a:rPr lang="es-ES" dirty="0" err="1"/>
              <a:t>envia</a:t>
            </a:r>
            <a:endParaRPr lang="es-ES" dirty="0"/>
          </a:p>
          <a:p>
            <a:pPr rtl="0"/>
            <a:r>
              <a:rPr lang="es-ES" dirty="0"/>
              <a:t>Nombre al que le enviaran el correo</a:t>
            </a:r>
          </a:p>
          <a:p>
            <a:pPr rtl="0"/>
            <a:r>
              <a:rPr lang="es-ES" dirty="0"/>
              <a:t>El asunto o cuerpo del correo</a:t>
            </a:r>
          </a:p>
          <a:p>
            <a:pPr rtl="0"/>
            <a:r>
              <a:rPr lang="es-ES" dirty="0"/>
              <a:t>Contenido HTML dinámico (</a:t>
            </a:r>
            <a:r>
              <a:rPr lang="es-ES" dirty="0" err="1"/>
              <a:t>content</a:t>
            </a:r>
            <a:r>
              <a:rPr lang="es-ES" dirty="0"/>
              <a:t>/</a:t>
            </a:r>
            <a:r>
              <a:rPr lang="es-ES" dirty="0" err="1"/>
              <a:t>value</a:t>
            </a:r>
            <a:r>
              <a:rPr lang="es-ES" dirty="0"/>
              <a:t>), donde incluye plantillas para credenciales, enlaces de recuperación o alertas de seguridad</a:t>
            </a:r>
          </a:p>
          <a:p>
            <a:pPr marL="0" indent="0" rtl="0">
              <a:buNone/>
            </a:pPr>
            <a:r>
              <a:rPr lang="es-ES" dirty="0"/>
              <a:t>Datos a recibir (Respuesta):</a:t>
            </a:r>
          </a:p>
          <a:p>
            <a:pPr rtl="0"/>
            <a:r>
              <a:rPr lang="es-ES" dirty="0" err="1"/>
              <a:t>Codigo</a:t>
            </a:r>
            <a:r>
              <a:rPr lang="es-ES" dirty="0"/>
              <a:t> de estado HTTP 202 </a:t>
            </a:r>
            <a:r>
              <a:rPr lang="es-ES" dirty="0" err="1"/>
              <a:t>Accepted</a:t>
            </a:r>
            <a:r>
              <a:rPr lang="es-ES" dirty="0"/>
              <a:t> que valida que el correo fue </a:t>
            </a:r>
            <a:r>
              <a:rPr lang="es-ES" dirty="0" err="1"/>
              <a:t>cencolado</a:t>
            </a:r>
            <a:r>
              <a:rPr lang="es-ES" dirty="0"/>
              <a:t> ingresado al pipeline de entrega correctamente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24E4198-A726-9283-495C-C9C12D486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0736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4EAC-D0A2-8A68-ECA7-187C3DA8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DFB1D-A2EF-E2E4-E2DD-9514671B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sz="4400" dirty="0"/>
              <a:t>Manejo de credenciales y seguridad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398113-BB8D-EBBC-23D9-176ACF9EB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988955"/>
            <a:ext cx="8324089" cy="219419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0" indent="0">
              <a:buNone/>
            </a:pPr>
            <a:r>
              <a:rPr lang="es-ES" sz="2800" dirty="0"/>
              <a:t>Haciendo bien las practicas, con la API de </a:t>
            </a:r>
            <a:r>
              <a:rPr lang="es-ES" sz="2800" dirty="0" err="1"/>
              <a:t>SendGrid</a:t>
            </a:r>
            <a:r>
              <a:rPr lang="es-ES" sz="2800" dirty="0"/>
              <a:t>  no lo expondremos en el frontend ni en el repositorio publico de Git. </a:t>
            </a:r>
          </a:p>
          <a:p>
            <a:pPr marL="0" indent="0">
              <a:buNone/>
            </a:pPr>
            <a:r>
              <a:rPr lang="es-ES" sz="2800" dirty="0"/>
              <a:t>Se almacenará como variable de entorno local en un archivo .</a:t>
            </a:r>
            <a:r>
              <a:rPr lang="es-ES" sz="2800" dirty="0" err="1"/>
              <a:t>env</a:t>
            </a:r>
            <a:r>
              <a:rPr lang="es-ES" sz="2800" dirty="0"/>
              <a:t> cargado solamente en el </a:t>
            </a:r>
            <a:r>
              <a:rPr lang="es-ES" sz="2800" dirty="0" err="1"/>
              <a:t>backend</a:t>
            </a:r>
            <a:r>
              <a:rPr lang="es-ES" sz="2800" dirty="0"/>
              <a:t> en PHP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8E8DDD7-DE6A-E0A6-6D51-A3D8BAFB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8</a:t>
            </a:fld>
            <a:endParaRPr lang="es-ES" dirty="0"/>
          </a:p>
        </p:txBody>
      </p:sp>
      <p:pic>
        <p:nvPicPr>
          <p:cNvPr id="5" name="Imagen 4" descr="SendGrid: precios, funciones y opiniones">
            <a:extLst>
              <a:ext uri="{FF2B5EF4-FFF2-40B4-BE49-F238E27FC236}">
                <a16:creationId xmlns:a16="http://schemas.microsoft.com/office/drawing/2014/main" id="{33C7A557-82C2-BFA5-2215-090841ACD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89" y="441648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5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423731" cy="331689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Tablas de </a:t>
            </a:r>
            <a:r>
              <a:rPr lang="es-ES" dirty="0" err="1"/>
              <a:t>bd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8" y="246252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Tablas </a:t>
            </a:r>
            <a:br>
              <a:rPr lang="es-ES" dirty="0"/>
            </a:br>
            <a:r>
              <a:rPr lang="es-ES" dirty="0"/>
              <a:t>de usuarios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10</a:t>
            </a:fld>
            <a:endParaRPr lang="es-ES" dirty="0"/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35ADB981-6A77-61AB-8987-BB97F637D52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23321853"/>
              </p:ext>
            </p:extLst>
          </p:nvPr>
        </p:nvGraphicFramePr>
        <p:xfrm>
          <a:off x="3581400" y="345398"/>
          <a:ext cx="8284572" cy="616720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71143">
                  <a:extLst>
                    <a:ext uri="{9D8B030D-6E8A-4147-A177-3AD203B41FA5}">
                      <a16:colId xmlns:a16="http://schemas.microsoft.com/office/drawing/2014/main" val="208544463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9943781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2888129341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123835666"/>
                    </a:ext>
                  </a:extLst>
                </a:gridCol>
              </a:tblGrid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 de 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Descripcion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22305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usuario_id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Identificador único del usuario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83681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VARCHAR(100)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Nombres del usuario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17492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correo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VARCHAR(150)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Correo electrónico de inicio sesión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97692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contrasena_hash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VARCHAR(255)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Hash de la contraseña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3645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‘estudiante’, ‘instructor’, ‘</a:t>
                      </a:r>
                      <a:r>
                        <a:rPr lang="es-MX" dirty="0" err="1"/>
                        <a:t>admin</a:t>
                      </a:r>
                      <a:r>
                        <a:rPr lang="es-MX" dirty="0"/>
                        <a:t>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231522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intentos_fallidos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TINYINT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Contador para el bloque automático al 3er intento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23184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bloqueado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Estado de la cuenta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544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5055-9955-5CA2-5A0D-32002F8C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FA936-88A8-38A0-E96C-0E4D8A509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8" y="246252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Tablas </a:t>
            </a:r>
            <a:br>
              <a:rPr lang="es-ES" dirty="0"/>
            </a:br>
            <a:r>
              <a:rPr lang="es-ES" dirty="0"/>
              <a:t>de cursos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59830F9-CBE1-AFCF-3284-F2A8EA159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 dirty="0"/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E6AE407F-8C51-42DB-0AB3-5B60898F8CB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76390118"/>
              </p:ext>
            </p:extLst>
          </p:nvPr>
        </p:nvGraphicFramePr>
        <p:xfrm>
          <a:off x="3581400" y="665438"/>
          <a:ext cx="8284572" cy="482633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71143">
                  <a:extLst>
                    <a:ext uri="{9D8B030D-6E8A-4147-A177-3AD203B41FA5}">
                      <a16:colId xmlns:a16="http://schemas.microsoft.com/office/drawing/2014/main" val="208544463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9943781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2888129341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123835666"/>
                    </a:ext>
                  </a:extLst>
                </a:gridCol>
              </a:tblGrid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 de 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Descripcion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22305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curso_id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Identificador único del 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83681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titulo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VARCHAR(150)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Nombre del 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17492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precio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DECIMAL(10,2)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Costo del 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97692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Instructor_id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usuarios.usuario_id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3645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categoria_id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categorías.categorías_id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231522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estatus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(activo, inactivo)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23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532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BDEAE-B47E-0106-7F2E-3853EE056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5BE7F-A8E0-E8E6-A519-BF112924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8" y="246252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Tablas </a:t>
            </a:r>
            <a:br>
              <a:rPr lang="es-ES" dirty="0"/>
            </a:br>
            <a:r>
              <a:rPr lang="es-ES" dirty="0"/>
              <a:t>de niveles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CE900EB-31B1-07AB-060B-E10BBB9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12</a:t>
            </a:fld>
            <a:endParaRPr lang="es-ES" dirty="0"/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8F5AFDC1-D43D-82D0-6137-9604C2138DF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28784446"/>
              </p:ext>
            </p:extLst>
          </p:nvPr>
        </p:nvGraphicFramePr>
        <p:xfrm>
          <a:off x="3581400" y="665438"/>
          <a:ext cx="8284572" cy="309896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71143">
                  <a:extLst>
                    <a:ext uri="{9D8B030D-6E8A-4147-A177-3AD203B41FA5}">
                      <a16:colId xmlns:a16="http://schemas.microsoft.com/office/drawing/2014/main" val="208544463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9943781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2888129341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123835666"/>
                    </a:ext>
                  </a:extLst>
                </a:gridCol>
              </a:tblGrid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 de 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Descripcion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22305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nivel_id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Identificador del nivel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83681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curso_id</a:t>
                      </a:r>
                      <a:r>
                        <a:rPr lang="es-MX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cursos.curso_id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17492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/>
                        <a:t>titulo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VARCHAR(150)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Nombre del nivel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97692"/>
                  </a:ext>
                </a:extLst>
              </a:tr>
              <a:tr h="589363">
                <a:tc>
                  <a:txBody>
                    <a:bodyPr/>
                    <a:lstStyle/>
                    <a:p>
                      <a:r>
                        <a:rPr lang="es-MX" dirty="0" err="1"/>
                        <a:t>video_url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VARCHAR(255)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Enlace al video del nivel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3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66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C650E-1003-5282-D632-221CBA51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0BD8D-BA20-8147-FFEF-6D45772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22" y="246253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Tablas </a:t>
            </a:r>
            <a:br>
              <a:rPr lang="es-ES" dirty="0"/>
            </a:br>
            <a:r>
              <a:rPr lang="es-ES" dirty="0"/>
              <a:t>de compras </a:t>
            </a:r>
            <a:br>
              <a:rPr lang="es-ES" dirty="0"/>
            </a:br>
            <a:r>
              <a:rPr lang="es-ES" dirty="0"/>
              <a:t>e inscripciones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B3E438E-31BA-EF9A-AFC0-73AB1285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13</a:t>
            </a:fld>
            <a:endParaRPr lang="es-ES" dirty="0"/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5FF40DFF-2AE2-8C14-83EC-53BF677F0B0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1819965"/>
              </p:ext>
            </p:extLst>
          </p:nvPr>
        </p:nvGraphicFramePr>
        <p:xfrm>
          <a:off x="3581400" y="665438"/>
          <a:ext cx="8284572" cy="556049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71143">
                  <a:extLst>
                    <a:ext uri="{9D8B030D-6E8A-4147-A177-3AD203B41FA5}">
                      <a16:colId xmlns:a16="http://schemas.microsoft.com/office/drawing/2014/main" val="208544463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9943781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2888129341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123835666"/>
                    </a:ext>
                  </a:extLst>
                </a:gridCol>
              </a:tblGrid>
              <a:tr h="623676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 de 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Descripcion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22305"/>
                  </a:ext>
                </a:extLst>
              </a:tr>
              <a:tr h="677345">
                <a:tc>
                  <a:txBody>
                    <a:bodyPr/>
                    <a:lstStyle/>
                    <a:p>
                      <a:r>
                        <a:rPr lang="es-MX" dirty="0" err="1"/>
                        <a:t>inscripcion</a:t>
                      </a:r>
                      <a:r>
                        <a:rPr lang="es-MX" dirty="0"/>
                        <a:t>:_id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Folio de la transacción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83681"/>
                  </a:ext>
                </a:extLst>
              </a:tr>
              <a:tr h="967636">
                <a:tc>
                  <a:txBody>
                    <a:bodyPr/>
                    <a:lstStyle/>
                    <a:p>
                      <a:r>
                        <a:rPr lang="es-MX" dirty="0" err="1"/>
                        <a:t>estudiante_id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usuarios.usuario_id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17492"/>
                  </a:ext>
                </a:extLst>
              </a:tr>
              <a:tr h="623676">
                <a:tc>
                  <a:txBody>
                    <a:bodyPr/>
                    <a:lstStyle/>
                    <a:p>
                      <a:r>
                        <a:rPr lang="es-MX" dirty="0" err="1"/>
                        <a:t>curso_id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cursos.curso_id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97692"/>
                  </a:ext>
                </a:extLst>
              </a:tr>
              <a:tr h="677345">
                <a:tc>
                  <a:txBody>
                    <a:bodyPr/>
                    <a:lstStyle/>
                    <a:p>
                      <a:r>
                        <a:rPr lang="es-MX" dirty="0" err="1"/>
                        <a:t>monto_pagado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DECIMAL(10,2)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Monto para los reportes financieros en formato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3645"/>
                  </a:ext>
                </a:extLst>
              </a:tr>
              <a:tr h="677345">
                <a:tc>
                  <a:txBody>
                    <a:bodyPr/>
                    <a:lstStyle/>
                    <a:p>
                      <a:r>
                        <a:rPr lang="es-MX" dirty="0"/>
                        <a:t>completado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Indica si termino el curso para liberar el diploma y permitir comentarios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929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47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CF15-8580-9296-27DC-FF35F237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EDED3-F56D-B85A-97DF-A97DFF1AE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22" y="246253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Tablas </a:t>
            </a:r>
            <a:br>
              <a:rPr lang="es-ES" dirty="0"/>
            </a:br>
            <a:r>
              <a:rPr lang="es-ES" dirty="0"/>
              <a:t>de categorías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950668F-6645-B8A3-F01F-331AB99C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14</a:t>
            </a:fld>
            <a:endParaRPr lang="es-ES" dirty="0"/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8765C861-E59A-0283-A091-D9A199E2300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67277076"/>
              </p:ext>
            </p:extLst>
          </p:nvPr>
        </p:nvGraphicFramePr>
        <p:xfrm>
          <a:off x="3581400" y="665438"/>
          <a:ext cx="8284572" cy="510423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71143">
                  <a:extLst>
                    <a:ext uri="{9D8B030D-6E8A-4147-A177-3AD203B41FA5}">
                      <a16:colId xmlns:a16="http://schemas.microsoft.com/office/drawing/2014/main" val="208544463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99437812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2888129341"/>
                    </a:ext>
                  </a:extLst>
                </a:gridCol>
                <a:gridCol w="2071143">
                  <a:extLst>
                    <a:ext uri="{9D8B030D-6E8A-4147-A177-3AD203B41FA5}">
                      <a16:colId xmlns:a16="http://schemas.microsoft.com/office/drawing/2014/main" val="3123835666"/>
                    </a:ext>
                  </a:extLst>
                </a:gridCol>
              </a:tblGrid>
              <a:tr h="623676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 de 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Descripcion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22305"/>
                  </a:ext>
                </a:extLst>
              </a:tr>
              <a:tr h="677345">
                <a:tc>
                  <a:txBody>
                    <a:bodyPr/>
                    <a:lstStyle/>
                    <a:p>
                      <a:r>
                        <a:rPr lang="es-MX" dirty="0" err="1"/>
                        <a:t>categoria_id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Identificador único de </a:t>
                      </a:r>
                      <a:r>
                        <a:rPr lang="es-MX" dirty="0" err="1"/>
                        <a:t>categoria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83681"/>
                  </a:ext>
                </a:extLst>
              </a:tr>
              <a:tr h="967636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VARCHAR(100)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Nombre visible de la categoría como </a:t>
                      </a:r>
                      <a:r>
                        <a:rPr lang="es-MX" dirty="0" err="1"/>
                        <a:t>Programacion</a:t>
                      </a:r>
                      <a:r>
                        <a:rPr lang="es-MX" dirty="0"/>
                        <a:t>, </a:t>
                      </a:r>
                      <a:r>
                        <a:rPr lang="es-MX" dirty="0" err="1"/>
                        <a:t>Musica</a:t>
                      </a:r>
                      <a:r>
                        <a:rPr lang="es-MX" dirty="0"/>
                        <a:t>, </a:t>
                      </a:r>
                      <a:r>
                        <a:rPr lang="es-MX" dirty="0" err="1"/>
                        <a:t>etc</a:t>
                      </a:r>
                      <a:r>
                        <a:rPr lang="es-MX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17492"/>
                  </a:ext>
                </a:extLst>
              </a:tr>
              <a:tr h="623676">
                <a:tc>
                  <a:txBody>
                    <a:bodyPr/>
                    <a:lstStyle/>
                    <a:p>
                      <a:r>
                        <a:rPr lang="es-MX" dirty="0" err="1"/>
                        <a:t>descripcion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Breve explicación del contenido de la categoría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97692"/>
                  </a:ext>
                </a:extLst>
              </a:tr>
              <a:tr h="677345">
                <a:tc>
                  <a:txBody>
                    <a:bodyPr/>
                    <a:lstStyle/>
                    <a:p>
                      <a:r>
                        <a:rPr lang="es-MX" dirty="0" err="1"/>
                        <a:t>creado_por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usuarios.usuario_id</a:t>
                      </a:r>
                      <a:r>
                        <a:rPr lang="es-MX" dirty="0"/>
                        <a:t> (</a:t>
                      </a:r>
                      <a:r>
                        <a:rPr lang="es-MX" dirty="0" err="1"/>
                        <a:t>admin</a:t>
                      </a:r>
                      <a:r>
                        <a:rPr lang="es-MX" dirty="0"/>
                        <a:t> que creo la categoría)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3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336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710C-4116-C1A9-A81B-79DAB678E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2C5C0-EA25-B040-BE83-82FB45821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92" y="1417327"/>
            <a:ext cx="1855699" cy="1326514"/>
          </a:xfrm>
        </p:spPr>
        <p:txBody>
          <a:bodyPr rtlCol="0">
            <a:normAutofit fontScale="9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Tablas </a:t>
            </a:r>
            <a:br>
              <a:rPr lang="es-ES" dirty="0"/>
            </a:br>
            <a:r>
              <a:rPr lang="es-ES" dirty="0"/>
              <a:t>de comentarios</a:t>
            </a:r>
            <a:br>
              <a:rPr lang="es-ES" dirty="0"/>
            </a:br>
            <a:r>
              <a:rPr lang="es-ES" dirty="0"/>
              <a:t>y calificaciones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DD6C6D5-2BE6-83E2-C4B8-B8BFBB2A5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15</a:t>
            </a:fld>
            <a:endParaRPr lang="es-ES" dirty="0"/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044F3D2C-D690-FDFC-1F43-67470B4A5ED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06462924"/>
              </p:ext>
            </p:extLst>
          </p:nvPr>
        </p:nvGraphicFramePr>
        <p:xfrm>
          <a:off x="2246376" y="246253"/>
          <a:ext cx="9689432" cy="659022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22358">
                  <a:extLst>
                    <a:ext uri="{9D8B030D-6E8A-4147-A177-3AD203B41FA5}">
                      <a16:colId xmlns:a16="http://schemas.microsoft.com/office/drawing/2014/main" val="2085444632"/>
                    </a:ext>
                  </a:extLst>
                </a:gridCol>
                <a:gridCol w="2422358">
                  <a:extLst>
                    <a:ext uri="{9D8B030D-6E8A-4147-A177-3AD203B41FA5}">
                      <a16:colId xmlns:a16="http://schemas.microsoft.com/office/drawing/2014/main" val="399437812"/>
                    </a:ext>
                  </a:extLst>
                </a:gridCol>
                <a:gridCol w="2422358">
                  <a:extLst>
                    <a:ext uri="{9D8B030D-6E8A-4147-A177-3AD203B41FA5}">
                      <a16:colId xmlns:a16="http://schemas.microsoft.com/office/drawing/2014/main" val="2888129341"/>
                    </a:ext>
                  </a:extLst>
                </a:gridCol>
                <a:gridCol w="2422358">
                  <a:extLst>
                    <a:ext uri="{9D8B030D-6E8A-4147-A177-3AD203B41FA5}">
                      <a16:colId xmlns:a16="http://schemas.microsoft.com/office/drawing/2014/main" val="3123835666"/>
                    </a:ext>
                  </a:extLst>
                </a:gridCol>
              </a:tblGrid>
              <a:tr h="329820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 de 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Descripcion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22305"/>
                  </a:ext>
                </a:extLst>
              </a:tr>
              <a:tr h="481491">
                <a:tc>
                  <a:txBody>
                    <a:bodyPr/>
                    <a:lstStyle/>
                    <a:p>
                      <a:r>
                        <a:rPr lang="es-MX" dirty="0" err="1"/>
                        <a:t>comentario_id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Identificador del comentario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83681"/>
                  </a:ext>
                </a:extLst>
              </a:tr>
              <a:tr h="511717">
                <a:tc>
                  <a:txBody>
                    <a:bodyPr/>
                    <a:lstStyle/>
                    <a:p>
                      <a:r>
                        <a:rPr lang="es-MX" dirty="0" err="1"/>
                        <a:t>curso_id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cursos.curso_id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17492"/>
                  </a:ext>
                </a:extLst>
              </a:tr>
              <a:tr h="1100551">
                <a:tc>
                  <a:txBody>
                    <a:bodyPr/>
                    <a:lstStyle/>
                    <a:p>
                      <a:r>
                        <a:rPr lang="es-MX" dirty="0" err="1"/>
                        <a:t>estudiante_id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usuarios.usuario_id</a:t>
                      </a:r>
                      <a:r>
                        <a:rPr lang="es-MX" dirty="0"/>
                        <a:t> (alumnos que terminaron el curso)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97692"/>
                  </a:ext>
                </a:extLst>
              </a:tr>
              <a:tr h="894198">
                <a:tc>
                  <a:txBody>
                    <a:bodyPr/>
                    <a:lstStyle/>
                    <a:p>
                      <a:r>
                        <a:rPr lang="es-MX" dirty="0" err="1"/>
                        <a:t>calificacion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Valor numero del 1 al 10 para promedio del 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3645"/>
                  </a:ext>
                </a:extLst>
              </a:tr>
              <a:tr h="687844">
                <a:tc>
                  <a:txBody>
                    <a:bodyPr/>
                    <a:lstStyle/>
                    <a:p>
                      <a:r>
                        <a:rPr lang="es-MX" dirty="0"/>
                        <a:t>comentario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Mensaje redactado por el alumno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605487"/>
                  </a:ext>
                </a:extLst>
              </a:tr>
              <a:tr h="1513257">
                <a:tc>
                  <a:txBody>
                    <a:bodyPr/>
                    <a:lstStyle/>
                    <a:p>
                      <a:r>
                        <a:rPr lang="es-MX" dirty="0" err="1"/>
                        <a:t>eliminado_por_admin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Si es TRUE, la vista mostrara la leyenda obligatoria de moderación por el Administrador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78831"/>
                  </a:ext>
                </a:extLst>
              </a:tr>
              <a:tr h="481491">
                <a:tc>
                  <a:txBody>
                    <a:bodyPr/>
                    <a:lstStyle/>
                    <a:p>
                      <a:r>
                        <a:rPr lang="es-MX" dirty="0" err="1"/>
                        <a:t>fecha_comentario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Estampa de tiempo de </a:t>
                      </a:r>
                      <a:r>
                        <a:rPr lang="es-MX" dirty="0" err="1"/>
                        <a:t>publicacion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156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133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4DAD-EB51-AFC1-6678-6CB2CBDA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F41D8-B912-11A1-D3A9-7E2FD618D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22" y="246253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Tablas </a:t>
            </a:r>
            <a:br>
              <a:rPr lang="es-ES" dirty="0"/>
            </a:br>
            <a:r>
              <a:rPr lang="es-ES" dirty="0"/>
              <a:t>de diplomas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AE1CB23-6C4B-141E-FFAC-0EC13A9F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16</a:t>
            </a:fld>
            <a:endParaRPr lang="es-ES" dirty="0"/>
          </a:p>
        </p:txBody>
      </p:sp>
      <p:graphicFrame>
        <p:nvGraphicFramePr>
          <p:cNvPr id="10" name="Marcador de contenido 9">
            <a:extLst>
              <a:ext uri="{FF2B5EF4-FFF2-40B4-BE49-F238E27FC236}">
                <a16:creationId xmlns:a16="http://schemas.microsoft.com/office/drawing/2014/main" id="{3AC86851-48B4-767F-A1C9-DF7228B5936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58251100"/>
              </p:ext>
            </p:extLst>
          </p:nvPr>
        </p:nvGraphicFramePr>
        <p:xfrm>
          <a:off x="3006969" y="665438"/>
          <a:ext cx="8859004" cy="514150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14751">
                  <a:extLst>
                    <a:ext uri="{9D8B030D-6E8A-4147-A177-3AD203B41FA5}">
                      <a16:colId xmlns:a16="http://schemas.microsoft.com/office/drawing/2014/main" val="2085444632"/>
                    </a:ext>
                  </a:extLst>
                </a:gridCol>
                <a:gridCol w="2214751">
                  <a:extLst>
                    <a:ext uri="{9D8B030D-6E8A-4147-A177-3AD203B41FA5}">
                      <a16:colId xmlns:a16="http://schemas.microsoft.com/office/drawing/2014/main" val="399437812"/>
                    </a:ext>
                  </a:extLst>
                </a:gridCol>
                <a:gridCol w="2214751">
                  <a:extLst>
                    <a:ext uri="{9D8B030D-6E8A-4147-A177-3AD203B41FA5}">
                      <a16:colId xmlns:a16="http://schemas.microsoft.com/office/drawing/2014/main" val="2888129341"/>
                    </a:ext>
                  </a:extLst>
                </a:gridCol>
                <a:gridCol w="2214751">
                  <a:extLst>
                    <a:ext uri="{9D8B030D-6E8A-4147-A177-3AD203B41FA5}">
                      <a16:colId xmlns:a16="http://schemas.microsoft.com/office/drawing/2014/main" val="3123835666"/>
                    </a:ext>
                  </a:extLst>
                </a:gridCol>
              </a:tblGrid>
              <a:tr h="623676">
                <a:tc>
                  <a:txBody>
                    <a:bodyPr/>
                    <a:lstStyle/>
                    <a:p>
                      <a:r>
                        <a:rPr lang="es-MX" dirty="0"/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 de Dato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err="1"/>
                        <a:t>Descripcion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22305"/>
                  </a:ext>
                </a:extLst>
              </a:tr>
              <a:tr h="677345">
                <a:tc>
                  <a:txBody>
                    <a:bodyPr/>
                    <a:lstStyle/>
                    <a:p>
                      <a:r>
                        <a:rPr lang="es-MX" dirty="0" err="1"/>
                        <a:t>diploma_id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Identificador del certificado emitido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283681"/>
                  </a:ext>
                </a:extLst>
              </a:tr>
              <a:tr h="967636">
                <a:tc>
                  <a:txBody>
                    <a:bodyPr/>
                    <a:lstStyle/>
                    <a:p>
                      <a:r>
                        <a:rPr lang="es-MX" dirty="0" err="1"/>
                        <a:t>inscripción_id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Apunta a </a:t>
                      </a:r>
                      <a:r>
                        <a:rPr lang="es-MX" dirty="0" err="1"/>
                        <a:t>inscripciones.inscripción_id</a:t>
                      </a:r>
                      <a:r>
                        <a:rPr lang="es-MX" dirty="0"/>
                        <a:t> (Acredita el curso completado)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17492"/>
                  </a:ext>
                </a:extLst>
              </a:tr>
              <a:tr h="623676">
                <a:tc>
                  <a:txBody>
                    <a:bodyPr/>
                    <a:lstStyle/>
                    <a:p>
                      <a:r>
                        <a:rPr lang="es-MX" dirty="0" err="1"/>
                        <a:t>código_verificacion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VARCHAR(100)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Folio/hash único para validar la autenticidad del diploma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97692"/>
                  </a:ext>
                </a:extLst>
              </a:tr>
              <a:tr h="677345">
                <a:tc>
                  <a:txBody>
                    <a:bodyPr/>
                    <a:lstStyle/>
                    <a:p>
                      <a:r>
                        <a:rPr lang="es-MX" dirty="0" err="1"/>
                        <a:t>fecha_emision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Fecha en donde el alumno acabo completamente todo el 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463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4122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Llaves </a:t>
            </a:r>
            <a:r>
              <a:rPr lang="es-ES" dirty="0" err="1"/>
              <a:t>foraneas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8D97CD95-A6D1-C7C3-F7D9-C0AB6438B27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93763" y="2073275"/>
                <a:ext cx="10528216" cy="3687763"/>
              </a:xfrm>
            </p:spPr>
            <p:txBody>
              <a:bodyPr rtlCol="0">
                <a:normAutofit fontScale="92500" lnSpcReduction="20000"/>
              </a:bodyPr>
              <a:lstStyle>
                <a:defPPr>
                  <a:defRPr lang="es-ES"/>
                </a:defPPr>
              </a:lstStyle>
              <a:p>
                <a:pPr lvl="0"/>
                <a:r>
                  <a:rPr lang="es-MX" b="1" dirty="0" err="1"/>
                  <a:t>categorias.creado_por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/>
                  <a:t>usuarios(</a:t>
                </a:r>
                <a:r>
                  <a:rPr lang="es-MX" dirty="0" err="1"/>
                  <a:t>usuario_id</a:t>
                </a:r>
                <a:r>
                  <a:rPr lang="es-MX" dirty="0"/>
                  <a:t>)</a:t>
                </a:r>
              </a:p>
              <a:p>
                <a:pPr lvl="0"/>
                <a:r>
                  <a:rPr lang="es-MX" b="1" dirty="0" err="1"/>
                  <a:t>cursos.instructor_id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/>
                  <a:t>usuarios(</a:t>
                </a:r>
                <a:r>
                  <a:rPr lang="es-MX" dirty="0" err="1"/>
                  <a:t>usuario_id</a:t>
                </a:r>
                <a:r>
                  <a:rPr lang="es-MX" dirty="0"/>
                  <a:t>)</a:t>
                </a:r>
              </a:p>
              <a:p>
                <a:pPr lvl="0"/>
                <a:r>
                  <a:rPr lang="es-MX" b="1" dirty="0" err="1"/>
                  <a:t>cursos.categoria_id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 err="1"/>
                  <a:t>categorias</a:t>
                </a:r>
                <a:r>
                  <a:rPr lang="es-MX" dirty="0"/>
                  <a:t>(</a:t>
                </a:r>
                <a:r>
                  <a:rPr lang="es-MX" dirty="0" err="1"/>
                  <a:t>categoria_id</a:t>
                </a:r>
                <a:r>
                  <a:rPr lang="es-MX" dirty="0"/>
                  <a:t>)</a:t>
                </a:r>
              </a:p>
              <a:p>
                <a:pPr lvl="0"/>
                <a:r>
                  <a:rPr lang="es-MX" b="1" dirty="0" err="1"/>
                  <a:t>niveles.curso_id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/>
                  <a:t>cursos(</a:t>
                </a:r>
                <a:r>
                  <a:rPr lang="es-MX" dirty="0" err="1"/>
                  <a:t>curso_id</a:t>
                </a:r>
                <a:r>
                  <a:rPr lang="es-MX" dirty="0"/>
                  <a:t>)</a:t>
                </a:r>
              </a:p>
              <a:p>
                <a:pPr lvl="0"/>
                <a:r>
                  <a:rPr lang="es-MX" b="1" dirty="0" err="1"/>
                  <a:t>inscripciones.estudiante_id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/>
                  <a:t>usuarios(</a:t>
                </a:r>
                <a:r>
                  <a:rPr lang="es-MX" dirty="0" err="1"/>
                  <a:t>usuario_id</a:t>
                </a:r>
                <a:r>
                  <a:rPr lang="es-MX" dirty="0"/>
                  <a:t>)</a:t>
                </a:r>
              </a:p>
              <a:p>
                <a:pPr lvl="0"/>
                <a:r>
                  <a:rPr lang="es-MX" b="1" dirty="0" err="1"/>
                  <a:t>inscripciones.curso_id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/>
                  <a:t>cursos(</a:t>
                </a:r>
                <a:r>
                  <a:rPr lang="es-MX" dirty="0" err="1"/>
                  <a:t>curso_id</a:t>
                </a:r>
                <a:r>
                  <a:rPr lang="es-MX" dirty="0"/>
                  <a:t>)</a:t>
                </a:r>
              </a:p>
              <a:p>
                <a:pPr lvl="0"/>
                <a:r>
                  <a:rPr lang="es-MX" b="1" dirty="0" err="1"/>
                  <a:t>comentarios.curso_id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/>
                  <a:t>cursos(</a:t>
                </a:r>
                <a:r>
                  <a:rPr lang="es-MX" dirty="0" err="1"/>
                  <a:t>curso_id</a:t>
                </a:r>
                <a:r>
                  <a:rPr lang="es-MX" dirty="0"/>
                  <a:t>)</a:t>
                </a:r>
              </a:p>
              <a:p>
                <a:pPr lvl="0"/>
                <a:r>
                  <a:rPr lang="es-MX" b="1" dirty="0" err="1"/>
                  <a:t>comentarios.estudiante_id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/>
                  <a:t>usuarios(</a:t>
                </a:r>
                <a:r>
                  <a:rPr lang="es-MX" dirty="0" err="1"/>
                  <a:t>usuario_id</a:t>
                </a:r>
                <a:r>
                  <a:rPr lang="es-MX" dirty="0"/>
                  <a:t>)</a:t>
                </a:r>
              </a:p>
              <a:p>
                <a:pPr lvl="0"/>
                <a:r>
                  <a:rPr lang="es-MX" b="1" dirty="0" err="1"/>
                  <a:t>diplomas.inscripcion_id</a:t>
                </a:r>
                <a:r>
                  <a:rPr lang="es-MX" dirty="0"/>
                  <a:t>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s-MX" dirty="0"/>
                  <a:t>inscripciones(</a:t>
                </a:r>
                <a:r>
                  <a:rPr lang="es-MX" dirty="0" err="1"/>
                  <a:t>inscripcion_id</a:t>
                </a:r>
                <a:r>
                  <a:rPr lang="es-MX" dirty="0"/>
                  <a:t>)</a:t>
                </a:r>
              </a:p>
              <a:p>
                <a:pPr rtl="0"/>
                <a:endParaRPr lang="es-ES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8D97CD95-A6D1-C7C3-F7D9-C0AB6438B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93763" y="2073275"/>
                <a:ext cx="10528216" cy="3687763"/>
              </a:xfrm>
              <a:blipFill>
                <a:blip r:embed="rId3"/>
                <a:stretch>
                  <a:fillRect l="-579" t="-247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10056-7209-195E-A61F-1C62F888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Operación del Servidor Web (Ruta Base - PHP)</a:t>
            </a:r>
            <a:endParaRPr lang="es-MX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352B9535-2A9C-A723-59EC-DC42AF4A7A4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661303" y="1524040"/>
            <a:ext cx="8868696" cy="4722582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CF10F5-B2B9-BE82-47A4-22D6EB67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877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96974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Estructura del </a:t>
            </a:r>
            <a:r>
              <a:rPr lang="es-ES" dirty="0" err="1"/>
              <a:t>patron</a:t>
            </a:r>
            <a:r>
              <a:rPr lang="es-ES" dirty="0"/>
              <a:t> </a:t>
            </a:r>
            <a:r>
              <a:rPr lang="es-ES" dirty="0" err="1"/>
              <a:t>mvc</a:t>
            </a:r>
            <a:r>
              <a:rPr lang="es-ES" dirty="0"/>
              <a:t> y flujo de </a:t>
            </a:r>
            <a:r>
              <a:rPr lang="es-ES" dirty="0" err="1"/>
              <a:t>peticion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19</a:t>
            </a:fld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7C74AD9-C316-7A6E-DFA4-C832E3C504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33C071A-4EE6-8D54-8FC8-C1C718A40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90" y="1106905"/>
            <a:ext cx="10627170" cy="514512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DD08D062-6627-35B3-974D-7308BAC4E72C}"/>
              </a:ext>
            </a:extLst>
          </p:cNvPr>
          <p:cNvSpPr txBox="1"/>
          <p:nvPr/>
        </p:nvSpPr>
        <p:spPr>
          <a:xfrm>
            <a:off x="2699238" y="6429184"/>
            <a:ext cx="10627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Hecho en: https://tree.nathanfriend.com/ </a:t>
            </a:r>
          </a:p>
        </p:txBody>
      </p:sp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74090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Flujo de una petición http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1FD557-D53B-0844-8823-CB2387248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979" y="1283367"/>
            <a:ext cx="10988041" cy="5328379"/>
          </a:xfrm>
        </p:spPr>
        <p:txBody>
          <a:bodyPr rtlCol="0">
            <a:normAutofit fontScale="85000" lnSpcReduction="10000"/>
          </a:bodyPr>
          <a:lstStyle>
            <a:defPPr>
              <a:defRPr lang="es-ES"/>
            </a:defPPr>
          </a:lstStyle>
          <a:p>
            <a:pPr marL="514350" indent="-514350" rtl="0">
              <a:buFont typeface="+mj-lt"/>
              <a:buAutoNum type="romanUcPeriod"/>
            </a:pPr>
            <a:r>
              <a:rPr lang="es-ES" sz="1700" b="1" dirty="0"/>
              <a:t>Recepción y Enrutamiento, Front Controller: </a:t>
            </a:r>
          </a:p>
          <a:p>
            <a:pPr rtl="0"/>
            <a:r>
              <a:rPr lang="es-ES" sz="1700" dirty="0"/>
              <a:t>Las peticiones del usuario con capturadas por el archivo </a:t>
            </a:r>
            <a:r>
              <a:rPr lang="es-ES" sz="1700" dirty="0" err="1"/>
              <a:t>public</a:t>
            </a:r>
            <a:r>
              <a:rPr lang="es-ES" sz="1700" dirty="0"/>
              <a:t>/</a:t>
            </a:r>
            <a:r>
              <a:rPr lang="es-ES" sz="1700" dirty="0" err="1"/>
              <a:t>index.php</a:t>
            </a:r>
            <a:r>
              <a:rPr lang="es-ES" sz="1700" dirty="0"/>
              <a:t> gracias al archivo de rescritura .</a:t>
            </a:r>
            <a:r>
              <a:rPr lang="es-ES" sz="1700" dirty="0" err="1"/>
              <a:t>htaacces</a:t>
            </a:r>
            <a:r>
              <a:rPr lang="es-ES" sz="1700" dirty="0"/>
              <a:t>. El enrutador analiza la URI recibida y determina que controlador y método deben procesar la solicitud</a:t>
            </a:r>
            <a:endParaRPr lang="es-ES" sz="1700" b="1" dirty="0"/>
          </a:p>
          <a:p>
            <a:pPr marL="514350" indent="-514350" rtl="0">
              <a:buAutoNum type="romanUcPeriod" startAt="2"/>
            </a:pPr>
            <a:r>
              <a:rPr lang="es-ES" sz="1700" b="1" dirty="0"/>
              <a:t>Procesamiento en el Controlador, Controller:</a:t>
            </a:r>
          </a:p>
          <a:p>
            <a:r>
              <a:rPr lang="es-ES" sz="1700" b="1" dirty="0"/>
              <a:t> </a:t>
            </a:r>
            <a:r>
              <a:rPr lang="es-ES" sz="1700" dirty="0"/>
              <a:t>El controlador </a:t>
            </a:r>
            <a:r>
              <a:rPr lang="es-MX" sz="1700" dirty="0"/>
              <a:t>(</a:t>
            </a:r>
            <a:r>
              <a:rPr lang="es-MX" sz="1700" dirty="0" err="1"/>
              <a:t>CursoController.php</a:t>
            </a:r>
            <a:r>
              <a:rPr lang="es-MX" sz="1700" dirty="0"/>
              <a:t>) se instancia. Antes de ejecutar la acción, ejecuta los </a:t>
            </a:r>
            <a:r>
              <a:rPr lang="es-MX" sz="1700" b="1" dirty="0"/>
              <a:t>middlewares</a:t>
            </a:r>
            <a:r>
              <a:rPr lang="es-MX" sz="1700" dirty="0"/>
              <a:t> necesarios (por ejemplo, verificar si el usuario tiene sesión activa o validar encabezados CORS). Si la validación pasa, el controlador procesa los parámetros de entrada sanitizados.</a:t>
            </a:r>
          </a:p>
          <a:p>
            <a:pPr marL="514350" indent="-514350">
              <a:buAutoNum type="romanUcPeriod" startAt="3"/>
            </a:pPr>
            <a:r>
              <a:rPr lang="es-MX" sz="1700" b="1" dirty="0"/>
              <a:t>Consulta y </a:t>
            </a:r>
            <a:r>
              <a:rPr lang="es-MX" sz="1700" b="1" dirty="0" err="1"/>
              <a:t>Logica</a:t>
            </a:r>
            <a:r>
              <a:rPr lang="es-MX" sz="1700" b="1" dirty="0"/>
              <a:t> de Datos, Model:</a:t>
            </a:r>
          </a:p>
          <a:p>
            <a:r>
              <a:rPr lang="es-MX" sz="1700" dirty="0"/>
              <a:t>El controlador invoca al modelo (</a:t>
            </a:r>
            <a:r>
              <a:rPr lang="es-MX" sz="1700" dirty="0" err="1"/>
              <a:t>CursoModel.php</a:t>
            </a:r>
            <a:r>
              <a:rPr lang="es-MX" sz="1700" dirty="0"/>
              <a:t>) para interactuar con la base de datos MySQL. </a:t>
            </a:r>
            <a:r>
              <a:rPr lang="es-MX" sz="1700" b="1" dirty="0"/>
              <a:t>Cumpliendo con las reglas del curso, ninguna vista ni controlador ejecuta sentencias SQL directamente</a:t>
            </a:r>
            <a:r>
              <a:rPr lang="es-MX" sz="1700" dirty="0"/>
              <a:t>; toda la manipulación de datos se realiza a través de métodos en el modelo usando sentencias preparadas (PDO)</a:t>
            </a:r>
            <a:endParaRPr lang="es-MX" sz="1700" b="1" dirty="0"/>
          </a:p>
          <a:p>
            <a:pPr marL="400050" indent="-400050">
              <a:buAutoNum type="romanUcPeriod" startAt="4"/>
            </a:pPr>
            <a:r>
              <a:rPr lang="es-MX" sz="1700" b="1" dirty="0"/>
              <a:t>Retorno de </a:t>
            </a:r>
            <a:r>
              <a:rPr lang="es-MX" sz="1700" b="1" dirty="0" err="1"/>
              <a:t>Informacion</a:t>
            </a:r>
            <a:r>
              <a:rPr lang="es-MX" sz="1700" b="1" dirty="0"/>
              <a:t> al Controlador:</a:t>
            </a:r>
          </a:p>
          <a:p>
            <a:r>
              <a:rPr lang="es-MX" sz="1700" dirty="0"/>
              <a:t>El modelo ejecuta la consulta en MySQL y retorna los arreglos de datos estructurados u objetos hacia el controlador</a:t>
            </a:r>
          </a:p>
          <a:p>
            <a:pPr marL="400050" indent="-400050">
              <a:buAutoNum type="romanUcPeriod" startAt="5"/>
            </a:pPr>
            <a:r>
              <a:rPr lang="es-MX" sz="1700" b="1" dirty="0"/>
              <a:t>Renderizado de la Vista o Respuesta JSON (View / API)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700" b="1" dirty="0"/>
              <a:t>Para peticiones web tradicionales:</a:t>
            </a:r>
            <a:r>
              <a:rPr lang="es-MX" sz="1700" dirty="0"/>
              <a:t> El controlador carga la plantilla HTML/CSS correspondiente dentro de /</a:t>
            </a:r>
            <a:r>
              <a:rPr lang="es-MX" sz="1700" dirty="0" err="1"/>
              <a:t>views</a:t>
            </a:r>
            <a:r>
              <a:rPr lang="es-MX" sz="1700" dirty="0"/>
              <a:t>/ inyectándole los datos procesados para presentárselos al navegador del usuario.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700" b="1" dirty="0"/>
              <a:t>Para peticiones de la API Propia (</a:t>
            </a:r>
            <a:r>
              <a:rPr lang="es-MX" sz="1700" b="1" dirty="0" err="1"/>
              <a:t>fetch</a:t>
            </a:r>
            <a:r>
              <a:rPr lang="es-MX" sz="1700" b="1" dirty="0"/>
              <a:t>):</a:t>
            </a:r>
            <a:r>
              <a:rPr lang="es-MX" sz="1700" dirty="0"/>
              <a:t> El controlador emite un encabezado Content-</a:t>
            </a:r>
            <a:r>
              <a:rPr lang="es-MX" sz="1700" dirty="0" err="1"/>
              <a:t>Type</a:t>
            </a:r>
            <a:r>
              <a:rPr lang="es-MX" sz="1700" dirty="0"/>
              <a:t>: </a:t>
            </a:r>
            <a:r>
              <a:rPr lang="es-MX" sz="1700" dirty="0" err="1"/>
              <a:t>application</a:t>
            </a:r>
            <a:r>
              <a:rPr lang="es-MX" sz="1700" dirty="0"/>
              <a:t>/</a:t>
            </a:r>
            <a:r>
              <a:rPr lang="es-MX" sz="1700" dirty="0" err="1"/>
              <a:t>json</a:t>
            </a:r>
            <a:r>
              <a:rPr lang="es-MX" sz="1700" dirty="0"/>
              <a:t> y devuelve los datos codificados en JSON acompañados del código de estado HTTP adecuado (200 OK, 400 Bad </a:t>
            </a:r>
            <a:r>
              <a:rPr lang="es-MX" sz="1700" dirty="0" err="1"/>
              <a:t>Request</a:t>
            </a:r>
            <a:r>
              <a:rPr lang="es-MX" sz="1700" dirty="0"/>
              <a:t>, etc.). </a:t>
            </a:r>
          </a:p>
          <a:p>
            <a:endParaRPr lang="es-MX" sz="1600" b="1" dirty="0"/>
          </a:p>
          <a:p>
            <a:endParaRPr lang="es-MX" dirty="0"/>
          </a:p>
          <a:p>
            <a:endParaRPr lang="es-MX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Arquitectura del sistema en 3 capas</a:t>
            </a:r>
            <a:br>
              <a:rPr lang="es-ES" dirty="0"/>
            </a:br>
            <a:r>
              <a:rPr lang="es-ES" dirty="0"/>
              <a:t>Primera capa – Cliente / Frontend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21</a:t>
            </a:fld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E4FB44E-8F19-5513-B11B-E52853ACC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87" y="1643318"/>
            <a:ext cx="8390347" cy="43590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7E82DBC-0C7D-20AF-1D98-7179D507DEEB}"/>
              </a:ext>
            </a:extLst>
          </p:cNvPr>
          <p:cNvSpPr txBox="1"/>
          <p:nvPr/>
        </p:nvSpPr>
        <p:spPr>
          <a:xfrm>
            <a:off x="1925515" y="6246622"/>
            <a:ext cx="4818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Hecho en </a:t>
            </a:r>
            <a:r>
              <a:rPr lang="es-MX" dirty="0" err="1"/>
              <a:t>lucidchart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9F277-FBAD-B810-FBD0-8665F611B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5C2D4-4EBF-1EFA-28EF-B9D68D55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Segunda capa – negocio y </a:t>
            </a:r>
            <a:r>
              <a:rPr lang="es-ES" dirty="0" err="1"/>
              <a:t>aplicacion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E95C90E-C7B9-3DA2-AD10-2A579F95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22</a:t>
            </a:fld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7DE329-57BE-9A06-91A5-DCE9E6AF68D6}"/>
              </a:ext>
            </a:extLst>
          </p:cNvPr>
          <p:cNvSpPr txBox="1"/>
          <p:nvPr/>
        </p:nvSpPr>
        <p:spPr>
          <a:xfrm>
            <a:off x="1925515" y="6246622"/>
            <a:ext cx="4818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Hecho en </a:t>
            </a:r>
            <a:r>
              <a:rPr lang="es-MX" dirty="0" err="1"/>
              <a:t>lucidchart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8741D9-03A1-7054-25E6-DCCC8E2BE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738" y="1661242"/>
            <a:ext cx="2644369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6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A1DDA-7855-7AAC-2D27-396182E1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7013E-B35C-D23B-68AA-F179C4DBF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Tercera capa de datos – persistencia 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BE33A07-8110-137C-2472-A91620835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23</a:t>
            </a:fld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5AF5327-7D59-80AE-3EFF-17F56BE51298}"/>
              </a:ext>
            </a:extLst>
          </p:cNvPr>
          <p:cNvSpPr txBox="1"/>
          <p:nvPr/>
        </p:nvSpPr>
        <p:spPr>
          <a:xfrm>
            <a:off x="1925515" y="6246622"/>
            <a:ext cx="4818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Hecho en </a:t>
            </a:r>
            <a:r>
              <a:rPr lang="es-MX" dirty="0" err="1"/>
              <a:t>lucidchart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A58B888-7C61-F6F0-E341-9FDF6D3FD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991" y="1399032"/>
            <a:ext cx="2938253" cy="520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14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9C5DD-6B55-DF45-4C6B-6B767B71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729216" cy="1326514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Explicación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849FABB-E5A7-5275-61DB-17B427E9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24</a:t>
            </a:fld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9ED84D-F0AE-3522-CB62-0E04D59CFDA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1620253"/>
            <a:ext cx="10405174" cy="462636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MX" b="1" dirty="0"/>
              <a:t> CAPA 1 – </a:t>
            </a:r>
            <a:r>
              <a:rPr lang="es-MX" b="1" dirty="0" err="1"/>
              <a:t>Presentacion</a:t>
            </a:r>
            <a:r>
              <a:rPr lang="es-MX" b="1" dirty="0"/>
              <a:t> (Cliente): </a:t>
            </a:r>
            <a:r>
              <a:rPr lang="es-MX" dirty="0"/>
              <a:t>Esta capa es la que se encarga de la interfaz grafica y la experiencia de usuario. El navegador ejecuta código HTML5/CSS para la maquetación y JS pata la manipulación del DOM y consumo asíncrono </a:t>
            </a:r>
            <a:r>
              <a:rPr lang="es-MX" dirty="0" err="1"/>
              <a:t>via</a:t>
            </a:r>
            <a:r>
              <a:rPr lang="es-MX" dirty="0"/>
              <a:t> </a:t>
            </a:r>
            <a:r>
              <a:rPr lang="es-MX" dirty="0" err="1"/>
              <a:t>fetch</a:t>
            </a:r>
            <a:r>
              <a:rPr lang="es-MX" dirty="0"/>
              <a:t>(). Aquí estarán las validaciones de frontend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MX" dirty="0"/>
              <a:t> </a:t>
            </a:r>
            <a:r>
              <a:rPr lang="es-MX" b="1" dirty="0"/>
              <a:t>Capa 2 – Negocio Y Aplicación (PHP / MVC): </a:t>
            </a:r>
            <a:r>
              <a:rPr lang="es-MX" dirty="0"/>
              <a:t>Esta capa </a:t>
            </a:r>
            <a:r>
              <a:rPr lang="es-MX" dirty="0" err="1"/>
              <a:t>tendra</a:t>
            </a:r>
            <a:r>
              <a:rPr lang="es-MX" dirty="0"/>
              <a:t> la lógica de negocio procesada mediante PHP puro bajo la arquitectura MVC.</a:t>
            </a:r>
          </a:p>
          <a:p>
            <a:pPr marL="0" indent="0">
              <a:buNone/>
            </a:pPr>
            <a:r>
              <a:rPr lang="es-MX" dirty="0"/>
              <a:t>     -Ubicación de la API: La API </a:t>
            </a:r>
            <a:r>
              <a:rPr lang="es-MX" dirty="0" err="1"/>
              <a:t>vivira</a:t>
            </a:r>
            <a:r>
              <a:rPr lang="es-MX" dirty="0"/>
              <a:t> en la capa intermedia dentro de controladores (</a:t>
            </a:r>
            <a:r>
              <a:rPr lang="es-MX" dirty="0" err="1"/>
              <a:t>ApiController.php</a:t>
            </a:r>
            <a:r>
              <a:rPr lang="es-MX" dirty="0"/>
              <a:t>). Ahí recibe las solicitudes HTTP en JSON, las procesa a través de middlewares, verificándose con CORS y permisos de </a:t>
            </a:r>
            <a:r>
              <a:rPr lang="es-MX" dirty="0" err="1"/>
              <a:t>sesion</a:t>
            </a:r>
            <a:r>
              <a:rPr lang="es-MX" dirty="0"/>
              <a:t>, y emite respuestas con códigos de  estado HTTP estándares como 200, 201, 400, 401 y 404.</a:t>
            </a:r>
          </a:p>
          <a:p>
            <a:pPr marL="0" indent="0">
              <a:buNone/>
            </a:pPr>
            <a:r>
              <a:rPr lang="es-MX" dirty="0"/>
              <a:t>     -</a:t>
            </a:r>
            <a:r>
              <a:rPr lang="es-MX" dirty="0" err="1"/>
              <a:t>Integracion</a:t>
            </a:r>
            <a:r>
              <a:rPr lang="es-MX" dirty="0"/>
              <a:t> de Terceros: Se conectara la API de SENDGRID, para que no se expongan las credenciales del cliente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MX" dirty="0"/>
              <a:t> </a:t>
            </a:r>
            <a:r>
              <a:rPr lang="es-MX" b="1" dirty="0"/>
              <a:t>Capa 3 – Datos: </a:t>
            </a:r>
            <a:r>
              <a:rPr lang="es-MX" dirty="0"/>
              <a:t>Gestor de base de datos relacional MySQL. Sera interacción desde el servidor PHP se realiza a través de la capa del Modelo mediante  sentencias preparadas para evitar vulnerabilidades de inyección SQL. No existe comunicación directa </a:t>
            </a:r>
            <a:r>
              <a:rPr lang="es-MX" dirty="0" err="1"/>
              <a:t>erntre</a:t>
            </a:r>
            <a:r>
              <a:rPr lang="es-MX" dirty="0"/>
              <a:t> la Capa de </a:t>
            </a:r>
            <a:r>
              <a:rPr lang="es-MX" dirty="0" err="1"/>
              <a:t>Presentacion</a:t>
            </a:r>
            <a:r>
              <a:rPr lang="es-MX" dirty="0"/>
              <a:t> (Cliente) y la Capa de Datos (MySQL).</a:t>
            </a:r>
          </a:p>
        </p:txBody>
      </p:sp>
    </p:spTree>
    <p:extLst>
      <p:ext uri="{BB962C8B-B14F-4D97-AF65-F5344CB8AC3E}">
        <p14:creationId xmlns:p14="http://schemas.microsoft.com/office/powerpoint/2010/main" val="2981044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44" y="296469"/>
            <a:ext cx="5775656" cy="18050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Maquetado del diploma o certificado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441ECC7-A71F-DD4B-AC22-A781645A5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744" y="1203158"/>
            <a:ext cx="7102130" cy="502148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FAEF292-06C1-9E60-1082-27A5C4051FF6}"/>
              </a:ext>
            </a:extLst>
          </p:cNvPr>
          <p:cNvSpPr txBox="1"/>
          <p:nvPr/>
        </p:nvSpPr>
        <p:spPr>
          <a:xfrm>
            <a:off x="0" y="6376892"/>
            <a:ext cx="3293294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Hecho en CANVA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542_TF16411248_Win32" id="{907FDA46-549C-456B-8420-E867E62B2FE6}" vid="{41853330-4B42-4EFA-9F1D-FE1C2158CEF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{D5DDAB41-B953-4112-9F93-A95AC6D4D4AC}TFb05bf529-a1dc-42d5-b9d6-8a1e9569dd9c0c094e88_win32-21cf92011842</Template>
  <TotalTime>419</TotalTime>
  <Words>2014</Words>
  <Application>Microsoft Office PowerPoint</Application>
  <PresentationFormat>Panorámica</PresentationFormat>
  <Paragraphs>344</Paragraphs>
  <Slides>25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Arial</vt:lpstr>
      <vt:lpstr>Avenir Next LT Pro Light</vt:lpstr>
      <vt:lpstr>Calibri</vt:lpstr>
      <vt:lpstr>Cambria Math</vt:lpstr>
      <vt:lpstr>Posterama</vt:lpstr>
      <vt:lpstr>Wingdings</vt:lpstr>
      <vt:lpstr>Personalizar</vt:lpstr>
      <vt:lpstr>Programación web capa intermedia</vt:lpstr>
      <vt:lpstr>Contrato de API Propia</vt:lpstr>
      <vt:lpstr>JSON</vt:lpstr>
      <vt:lpstr>Contrato de API Propia</vt:lpstr>
      <vt:lpstr>Propuesta de Integración de API de Terceros</vt:lpstr>
      <vt:lpstr>En que se necesitaría esta api</vt:lpstr>
      <vt:lpstr>Datos a consumir y enviar</vt:lpstr>
      <vt:lpstr>Manejo de credenciales y seguridad</vt:lpstr>
      <vt:lpstr>Tablas de bd</vt:lpstr>
      <vt:lpstr>Tablas  de usuarios</vt:lpstr>
      <vt:lpstr>Tablas  de cursos</vt:lpstr>
      <vt:lpstr>Tablas  de niveles</vt:lpstr>
      <vt:lpstr>Tablas  de compras  e inscripciones</vt:lpstr>
      <vt:lpstr>Tablas  de categorías</vt:lpstr>
      <vt:lpstr>Tablas  de comentarios y calificaciones</vt:lpstr>
      <vt:lpstr>Tablas  de diplomas</vt:lpstr>
      <vt:lpstr>Llaves foraneas</vt:lpstr>
      <vt:lpstr>Operación del Servidor Web (Ruta Base - PHP)</vt:lpstr>
      <vt:lpstr>Estructura del patron mvc y flujo de peticion</vt:lpstr>
      <vt:lpstr>Flujo de una petición http</vt:lpstr>
      <vt:lpstr>Arquitectura del sistema en 3 capas Primera capa – Cliente / Frontend</vt:lpstr>
      <vt:lpstr>Segunda capa – negocio y aplicacion</vt:lpstr>
      <vt:lpstr>Tercera capa de datos – persistencia </vt:lpstr>
      <vt:lpstr>Explicación</vt:lpstr>
      <vt:lpstr>Maquetado del diploma o certificado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Flores</dc:creator>
  <cp:lastModifiedBy>ISMAEL CRUZ VAZQUEZ</cp:lastModifiedBy>
  <cp:revision>5</cp:revision>
  <dcterms:created xsi:type="dcterms:W3CDTF">2026-09-18T06:06:18Z</dcterms:created>
  <dcterms:modified xsi:type="dcterms:W3CDTF">2026-09-19T12:06:09Z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